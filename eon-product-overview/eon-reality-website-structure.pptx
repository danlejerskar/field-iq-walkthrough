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youtube.com/watch?v=NOzq38H2JyA" TargetMode="External"/><Relationship Id="rId2" Type="http://schemas.openxmlformats.org/officeDocument/2006/relationships/hyperlink" Target="https://www.youtube.com/watch?v=BN9_NSrLzOw" TargetMode="External"/><Relationship Id="rId3" Type="http://schemas.openxmlformats.org/officeDocument/2006/relationships/hyperlink" Target="https://www.youtube.com/watch?v=POkUOq1V0Iw" TargetMode="External"/><Relationship Id="rId4" Type="http://schemas.openxmlformats.org/officeDocument/2006/relationships/hyperlink" Target="https://www.youtube.com/watch?v=X0aEyqYXt48" TargetMode="External"/><Relationship Id="rId5" Type="http://schemas.openxmlformats.org/officeDocument/2006/relationships/hyperlink" Target="https://www.youtube.com/watch?v=IVe3-QiwR4U" TargetMode="External"/><Relationship Id="rId6" Type="http://schemas.openxmlformats.org/officeDocument/2006/relationships/hyperlink" Target="https://www.youtube.com/watch?v=87c_ch17v0Q" TargetMode="External"/><Relationship Id="rId7" Type="http://schemas.openxmlformats.org/officeDocument/2006/relationships/hyperlink" Target="https://www.youtube.com/watch?v=8WZr5nDasK8" TargetMode="External"/><Relationship Id="rId8" Type="http://schemas.openxmlformats.org/officeDocument/2006/relationships/hyperlink" Target="https://www.youtube.com/watch?v=7lnGT6dN_1o" TargetMode="External"/><Relationship Id="rId9" Type="http://schemas.openxmlformats.org/officeDocument/2006/relationships/hyperlink" Target="https://www.youtube.com/watch?v=MxYWI8QBcUY" TargetMode="External"/><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temporary-sonic-indigo-vj9wu0l.vercel.app" TargetMode="External"/><Relationship Id="rId2" Type="http://schemas.openxmlformats.org/officeDocument/2006/relationships/hyperlink" Target="https://field-iq-walkthrough-bk5xvzi76-dans-projects-3b851cd9.vercel.app/eon-product-overview/" TargetMode="External"/><Relationship Id="rId3" Type="http://schemas.openxmlformats.org/officeDocument/2006/relationships/hyperlink" Target="https://eon-education-government-review.vercel.app/#products" TargetMode="External"/><Relationship Id="rId4" Type="http://schemas.openxmlformats.org/officeDocument/2006/relationships/hyperlink" Target="https://eonglobalcampus.com/" TargetMode="External"/><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306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9A1F3D"/>
          </a:solidFill>
          <a:ln/>
        </p:spPr>
      </p:sp>
      <p:pic>
        <p:nvPicPr>
          <p:cNvPr id="3" name="Image 0" descr="/agent/repos/field-iq-walkthrough/eon-product-overview/assets/brand/eon-reality-logo-white.png">    </p:cNvPr>
          <p:cNvPicPr>
            <a:picLocks noChangeAspect="1"/>
          </p:cNvPicPr>
          <p:nvPr/>
        </p:nvPicPr>
        <p:blipFill>
          <a:blip r:embed="rId1"/>
          <a:stretch>
            <a:fillRect/>
          </a:stretch>
        </p:blipFill>
        <p:spPr>
          <a:xfrm>
            <a:off x="640080" y="1234440"/>
            <a:ext cx="2880360" cy="886968"/>
          </a:xfrm>
          <a:prstGeom prst="rect">
            <a:avLst/>
          </a:prstGeom>
        </p:spPr>
      </p:pic>
      <p:sp>
        <p:nvSpPr>
          <p:cNvPr id="4" name="Text 1"/>
          <p:cNvSpPr/>
          <p:nvPr/>
        </p:nvSpPr>
        <p:spPr>
          <a:xfrm>
            <a:off x="640080" y="2468880"/>
            <a:ext cx="9144000" cy="256032"/>
          </a:xfrm>
          <a:prstGeom prst="rect">
            <a:avLst/>
          </a:prstGeom>
          <a:noFill/>
          <a:ln/>
        </p:spPr>
        <p:txBody>
          <a:bodyPr wrap="square" lIns="0" tIns="0" rIns="0" bIns="0" rtlCol="0" anchor="ctr"/>
          <a:lstStyle/>
          <a:p>
            <a:pPr indent="0" marL="0">
              <a:buNone/>
            </a:pPr>
            <a:r>
              <a:rPr lang="en-US" sz="1400" b="1" spc="140" kern="0" dirty="0">
                <a:solidFill>
                  <a:srgbClr val="F3C3D0"/>
                </a:solidFill>
                <a:latin typeface="Calibri" pitchFamily="34" charset="0"/>
                <a:ea typeface="Calibri" pitchFamily="34" charset="-122"/>
                <a:cs typeface="Calibri" pitchFamily="34" charset="-120"/>
              </a:rPr>
              <a:t>WEBSITE SUGGESTION</a:t>
            </a:r>
            <a:endParaRPr lang="en-US" sz="1400" dirty="0"/>
          </a:p>
        </p:txBody>
      </p:sp>
      <p:sp>
        <p:nvSpPr>
          <p:cNvPr id="5" name="Text 2"/>
          <p:cNvSpPr/>
          <p:nvPr/>
        </p:nvSpPr>
        <p:spPr>
          <a:xfrm>
            <a:off x="640080" y="2788920"/>
            <a:ext cx="10058400" cy="155448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A clearer EON Reality</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website</a:t>
            </a:r>
            <a:endParaRPr lang="en-US" sz="4400" dirty="0"/>
          </a:p>
        </p:txBody>
      </p:sp>
      <p:sp>
        <p:nvSpPr>
          <p:cNvPr id="6" name="Text 3"/>
          <p:cNvSpPr/>
          <p:nvPr/>
        </p:nvSpPr>
        <p:spPr>
          <a:xfrm>
            <a:off x="640080" y="4617720"/>
            <a:ext cx="10058400" cy="329184"/>
          </a:xfrm>
          <a:prstGeom prst="rect">
            <a:avLst/>
          </a:prstGeom>
          <a:noFill/>
          <a:ln/>
        </p:spPr>
        <p:txBody>
          <a:bodyPr wrap="square" lIns="0" tIns="0" rIns="0" bIns="0" rtlCol="0" anchor="ctr"/>
          <a:lstStyle/>
          <a:p>
            <a:pPr indent="0" marL="0">
              <a:buNone/>
            </a:pPr>
            <a:r>
              <a:rPr lang="en-US" sz="1800" dirty="0">
                <a:solidFill>
                  <a:srgbClr val="D6DEEA"/>
                </a:solidFill>
                <a:latin typeface="Calibri" pitchFamily="34" charset="0"/>
                <a:ea typeface="Calibri" pitchFamily="34" charset="-122"/>
                <a:cs typeface="Calibri" pitchFamily="34" charset="-120"/>
              </a:rPr>
              <a:t>The structure.   What we keep.   What we remove.   Where to start.</a:t>
            </a:r>
            <a:endParaRPr lang="en-US" sz="1800" dirty="0"/>
          </a:p>
        </p:txBody>
      </p:sp>
      <p:sp>
        <p:nvSpPr>
          <p:cNvPr id="7" name="Text 4"/>
          <p:cNvSpPr/>
          <p:nvPr/>
        </p:nvSpPr>
        <p:spPr>
          <a:xfrm>
            <a:off x="640080" y="6126480"/>
            <a:ext cx="10058400" cy="256032"/>
          </a:xfrm>
          <a:prstGeom prst="rect">
            <a:avLst/>
          </a:prstGeom>
          <a:noFill/>
          <a:ln/>
        </p:spPr>
        <p:txBody>
          <a:bodyPr wrap="square" lIns="0" tIns="0" rIns="0" bIns="0" rtlCol="0" anchor="ctr"/>
          <a:lstStyle/>
          <a:p>
            <a:pPr indent="0" marL="0">
              <a:buNone/>
            </a:pPr>
            <a:r>
              <a:rPr lang="en-US" sz="1400" dirty="0">
                <a:solidFill>
                  <a:srgbClr val="A9B7CC"/>
                </a:solidFill>
                <a:latin typeface="Calibri" pitchFamily="34" charset="0"/>
                <a:ea typeface="Calibri" pitchFamily="34" charset="-122"/>
                <a:cs typeface="Calibri" pitchFamily="34" charset="-120"/>
              </a:rPr>
              <a:t>October 2026     ·     For discussion     ·     Not the finished site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F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3060"/>
          </a:solidFill>
          <a:ln/>
        </p:spPr>
      </p:sp>
      <p:sp>
        <p:nvSpPr>
          <p:cNvPr id="3" name="Shape 1"/>
          <p:cNvSpPr/>
          <p:nvPr/>
        </p:nvSpPr>
        <p:spPr>
          <a:xfrm>
            <a:off x="0" y="73152"/>
            <a:ext cx="12191695" cy="41148"/>
          </a:xfrm>
          <a:prstGeom prst="rect">
            <a:avLst/>
          </a:prstGeom>
          <a:solidFill>
            <a:srgbClr val="9A1F3D"/>
          </a:solidFill>
          <a:ln/>
        </p:spPr>
      </p:sp>
      <p:sp>
        <p:nvSpPr>
          <p:cNvPr id="4" name="Text 2"/>
          <p:cNvSpPr/>
          <p:nvPr/>
        </p:nvSpPr>
        <p:spPr>
          <a:xfrm>
            <a:off x="457200" y="256032"/>
            <a:ext cx="11247120" cy="237744"/>
          </a:xfrm>
          <a:prstGeom prst="rect">
            <a:avLst/>
          </a:prstGeom>
          <a:noFill/>
          <a:ln/>
        </p:spPr>
        <p:txBody>
          <a:bodyPr wrap="square" lIns="0" tIns="0" rIns="0" bIns="0" rtlCol="0" anchor="ctr"/>
          <a:lstStyle/>
          <a:p>
            <a:pPr indent="0" marL="0">
              <a:buNone/>
            </a:pPr>
            <a:r>
              <a:rPr lang="en-US" sz="1200" b="1" dirty="0">
                <a:solidFill>
                  <a:srgbClr val="9A1F3D"/>
                </a:solidFill>
                <a:latin typeface="Calibri" pitchFamily="34" charset="0"/>
                <a:ea typeface="Calibri" pitchFamily="34" charset="-122"/>
                <a:cs typeface="Calibri" pitchFamily="34" charset="-120"/>
              </a:rPr>
              <a:t>WHY</a:t>
            </a:r>
            <a:endParaRPr lang="en-US" sz="1200" dirty="0"/>
          </a:p>
        </p:txBody>
      </p:sp>
      <p:sp>
        <p:nvSpPr>
          <p:cNvPr id="5" name="Text 3"/>
          <p:cNvSpPr/>
          <p:nvPr/>
        </p:nvSpPr>
        <p:spPr>
          <a:xfrm>
            <a:off x="457200" y="475488"/>
            <a:ext cx="11247120" cy="420624"/>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The public site still reads as the old list</a:t>
            </a:r>
            <a:endParaRPr lang="en-US" sz="2600" dirty="0"/>
          </a:p>
        </p:txBody>
      </p:sp>
      <p:sp>
        <p:nvSpPr>
          <p:cNvPr id="6" name="Shape 4"/>
          <p:cNvSpPr/>
          <p:nvPr/>
        </p:nvSpPr>
        <p:spPr>
          <a:xfrm>
            <a:off x="411480" y="1234440"/>
            <a:ext cx="5577840" cy="2240280"/>
          </a:xfrm>
          <a:prstGeom prst="roundRect">
            <a:avLst>
              <a:gd name="adj" fmla="val 3265"/>
            </a:avLst>
          </a:prstGeom>
          <a:solidFill>
            <a:srgbClr val="FFFFFF"/>
          </a:solidFill>
          <a:ln/>
          <a:effectLst>
            <a:outerShdw sx="100000" sy="100000" kx="0" ky="0" algn="bl" rotWithShape="0" blurRad="127000" dist="25400" dir="16200000">
              <a:srgbClr val="103060">
                <a:alpha val="8000"/>
              </a:srgbClr>
            </a:outerShdw>
          </a:effectLst>
        </p:spPr>
      </p:sp>
      <p:sp>
        <p:nvSpPr>
          <p:cNvPr id="7" name="Shape 5"/>
          <p:cNvSpPr/>
          <p:nvPr/>
        </p:nvSpPr>
        <p:spPr>
          <a:xfrm>
            <a:off x="411480" y="1234440"/>
            <a:ext cx="91440" cy="2240280"/>
          </a:xfrm>
          <a:prstGeom prst="rect">
            <a:avLst/>
          </a:prstGeom>
          <a:solidFill>
            <a:srgbClr val="103060"/>
          </a:solidFill>
          <a:ln/>
        </p:spPr>
      </p:sp>
      <p:sp>
        <p:nvSpPr>
          <p:cNvPr id="8" name="Text 6"/>
          <p:cNvSpPr/>
          <p:nvPr/>
        </p:nvSpPr>
        <p:spPr>
          <a:xfrm>
            <a:off x="731520" y="1490472"/>
            <a:ext cx="1097280" cy="365760"/>
          </a:xfrm>
          <a:prstGeom prst="rect">
            <a:avLst/>
          </a:prstGeom>
          <a:noFill/>
          <a:ln/>
        </p:spPr>
        <p:txBody>
          <a:bodyPr wrap="square" lIns="0" tIns="0" rIns="0" bIns="0" rtlCol="0" anchor="ctr"/>
          <a:lstStyle/>
          <a:p>
            <a:pPr indent="0" marL="0">
              <a:buNone/>
            </a:pPr>
            <a:r>
              <a:rPr lang="en-US" sz="1800" b="1" dirty="0">
                <a:solidFill>
                  <a:srgbClr val="9A1F3D"/>
                </a:solidFill>
                <a:latin typeface="Calibri" pitchFamily="34" charset="0"/>
                <a:ea typeface="Calibri" pitchFamily="34" charset="-122"/>
                <a:cs typeface="Calibri" pitchFamily="34" charset="-120"/>
              </a:rPr>
              <a:t>01</a:t>
            </a:r>
            <a:endParaRPr lang="en-US" sz="1800" dirty="0"/>
          </a:p>
        </p:txBody>
      </p:sp>
      <p:sp>
        <p:nvSpPr>
          <p:cNvPr id="9" name="Text 7"/>
          <p:cNvSpPr/>
          <p:nvPr/>
        </p:nvSpPr>
        <p:spPr>
          <a:xfrm>
            <a:off x="731520" y="1947672"/>
            <a:ext cx="4937760" cy="457200"/>
          </a:xfrm>
          <a:prstGeom prst="rect">
            <a:avLst/>
          </a:prstGeom>
          <a:noFill/>
          <a:ln/>
        </p:spPr>
        <p:txBody>
          <a:bodyPr wrap="square" lIns="0" tIns="0" rIns="0" bIns="0" rtlCol="0" anchor="ctr"/>
          <a:lstStyle/>
          <a:p>
            <a:pPr indent="0" marL="0">
              <a:buNone/>
            </a:pPr>
            <a:r>
              <a:rPr lang="en-US" sz="2000" b="1" dirty="0">
                <a:solidFill>
                  <a:srgbClr val="103060"/>
                </a:solidFill>
                <a:latin typeface="Calibri" pitchFamily="34" charset="0"/>
                <a:ea typeface="Calibri" pitchFamily="34" charset="-122"/>
                <a:cs typeface="Calibri" pitchFamily="34" charset="-120"/>
              </a:rPr>
              <a:t>The old names are still public</a:t>
            </a:r>
            <a:endParaRPr lang="en-US" sz="2000" dirty="0"/>
          </a:p>
        </p:txBody>
      </p:sp>
      <p:sp>
        <p:nvSpPr>
          <p:cNvPr id="10" name="Text 8"/>
          <p:cNvSpPr/>
          <p:nvPr/>
        </p:nvSpPr>
        <p:spPr>
          <a:xfrm>
            <a:off x="731520" y="2496312"/>
            <a:ext cx="4937760" cy="68580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EON XR, EON AI, Genesis Trainer, and Genesis Simulator still look like separate products.</a:t>
            </a:r>
            <a:endParaRPr lang="en-US" sz="1500" dirty="0"/>
          </a:p>
        </p:txBody>
      </p:sp>
      <p:sp>
        <p:nvSpPr>
          <p:cNvPr id="11" name="Shape 9"/>
          <p:cNvSpPr/>
          <p:nvPr/>
        </p:nvSpPr>
        <p:spPr>
          <a:xfrm>
            <a:off x="6263640" y="1234440"/>
            <a:ext cx="5577840" cy="2240280"/>
          </a:xfrm>
          <a:prstGeom prst="roundRect">
            <a:avLst>
              <a:gd name="adj" fmla="val 3265"/>
            </a:avLst>
          </a:prstGeom>
          <a:solidFill>
            <a:srgbClr val="FFFFFF"/>
          </a:solidFill>
          <a:ln/>
          <a:effectLst>
            <a:outerShdw sx="100000" sy="100000" kx="0" ky="0" algn="bl" rotWithShape="0" blurRad="127000" dist="25400" dir="16200000">
              <a:srgbClr val="103060">
                <a:alpha val="8000"/>
              </a:srgbClr>
            </a:outerShdw>
          </a:effectLst>
        </p:spPr>
      </p:sp>
      <p:sp>
        <p:nvSpPr>
          <p:cNvPr id="12" name="Shape 10"/>
          <p:cNvSpPr/>
          <p:nvPr/>
        </p:nvSpPr>
        <p:spPr>
          <a:xfrm>
            <a:off x="6263640" y="1234440"/>
            <a:ext cx="91440" cy="2240280"/>
          </a:xfrm>
          <a:prstGeom prst="rect">
            <a:avLst/>
          </a:prstGeom>
          <a:solidFill>
            <a:srgbClr val="9A1F3D"/>
          </a:solidFill>
          <a:ln/>
        </p:spPr>
      </p:sp>
      <p:sp>
        <p:nvSpPr>
          <p:cNvPr id="13" name="Text 11"/>
          <p:cNvSpPr/>
          <p:nvPr/>
        </p:nvSpPr>
        <p:spPr>
          <a:xfrm>
            <a:off x="6583680" y="1490472"/>
            <a:ext cx="1097280" cy="365760"/>
          </a:xfrm>
          <a:prstGeom prst="rect">
            <a:avLst/>
          </a:prstGeom>
          <a:noFill/>
          <a:ln/>
        </p:spPr>
        <p:txBody>
          <a:bodyPr wrap="square" lIns="0" tIns="0" rIns="0" bIns="0" rtlCol="0" anchor="ctr"/>
          <a:lstStyle/>
          <a:p>
            <a:pPr indent="0" marL="0">
              <a:buNone/>
            </a:pPr>
            <a:r>
              <a:rPr lang="en-US" sz="1800" b="1" dirty="0">
                <a:solidFill>
                  <a:srgbClr val="9A1F3D"/>
                </a:solidFill>
                <a:latin typeface="Calibri" pitchFamily="34" charset="0"/>
                <a:ea typeface="Calibri" pitchFamily="34" charset="-122"/>
                <a:cs typeface="Calibri" pitchFamily="34" charset="-120"/>
              </a:rPr>
              <a:t>02</a:t>
            </a:r>
            <a:endParaRPr lang="en-US" sz="1800" dirty="0"/>
          </a:p>
        </p:txBody>
      </p:sp>
      <p:sp>
        <p:nvSpPr>
          <p:cNvPr id="14" name="Text 12"/>
          <p:cNvSpPr/>
          <p:nvPr/>
        </p:nvSpPr>
        <p:spPr>
          <a:xfrm>
            <a:off x="6583680" y="1947672"/>
            <a:ext cx="4937760" cy="457200"/>
          </a:xfrm>
          <a:prstGeom prst="rect">
            <a:avLst/>
          </a:prstGeom>
          <a:noFill/>
          <a:ln/>
        </p:spPr>
        <p:txBody>
          <a:bodyPr wrap="square" lIns="0" tIns="0" rIns="0" bIns="0" rtlCol="0" anchor="ctr"/>
          <a:lstStyle/>
          <a:p>
            <a:pPr indent="0" marL="0">
              <a:buNone/>
            </a:pPr>
            <a:r>
              <a:rPr lang="en-US" sz="2000" b="1" dirty="0">
                <a:solidFill>
                  <a:srgbClr val="103060"/>
                </a:solidFill>
                <a:latin typeface="Calibri" pitchFamily="34" charset="0"/>
                <a:ea typeface="Calibri" pitchFamily="34" charset="-122"/>
                <a:cs typeface="Calibri" pitchFamily="34" charset="-120"/>
              </a:rPr>
              <a:t>The path is hard to see</a:t>
            </a:r>
            <a:endParaRPr lang="en-US" sz="2000" dirty="0"/>
          </a:p>
        </p:txBody>
      </p:sp>
      <p:sp>
        <p:nvSpPr>
          <p:cNvPr id="15" name="Text 13"/>
          <p:cNvSpPr/>
          <p:nvPr/>
        </p:nvSpPr>
        <p:spPr>
          <a:xfrm>
            <a:off x="6583680" y="2496312"/>
            <a:ext cx="4937760" cy="68580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Learn, train, perform, then get the job and secure it should read as one story.</a:t>
            </a:r>
            <a:endParaRPr lang="en-US" sz="1500" dirty="0"/>
          </a:p>
        </p:txBody>
      </p:sp>
      <p:sp>
        <p:nvSpPr>
          <p:cNvPr id="16" name="Shape 14"/>
          <p:cNvSpPr/>
          <p:nvPr/>
        </p:nvSpPr>
        <p:spPr>
          <a:xfrm>
            <a:off x="411480" y="3703320"/>
            <a:ext cx="5577840" cy="2240280"/>
          </a:xfrm>
          <a:prstGeom prst="roundRect">
            <a:avLst>
              <a:gd name="adj" fmla="val 3265"/>
            </a:avLst>
          </a:prstGeom>
          <a:solidFill>
            <a:srgbClr val="FFFFFF"/>
          </a:solidFill>
          <a:ln/>
          <a:effectLst>
            <a:outerShdw sx="100000" sy="100000" kx="0" ky="0" algn="bl" rotWithShape="0" blurRad="127000" dist="25400" dir="16200000">
              <a:srgbClr val="103060">
                <a:alpha val="8000"/>
              </a:srgbClr>
            </a:outerShdw>
          </a:effectLst>
        </p:spPr>
      </p:sp>
      <p:sp>
        <p:nvSpPr>
          <p:cNvPr id="17" name="Shape 15"/>
          <p:cNvSpPr/>
          <p:nvPr/>
        </p:nvSpPr>
        <p:spPr>
          <a:xfrm>
            <a:off x="411480" y="3703320"/>
            <a:ext cx="91440" cy="2240280"/>
          </a:xfrm>
          <a:prstGeom prst="rect">
            <a:avLst/>
          </a:prstGeom>
          <a:solidFill>
            <a:srgbClr val="103060"/>
          </a:solidFill>
          <a:ln/>
        </p:spPr>
      </p:sp>
      <p:sp>
        <p:nvSpPr>
          <p:cNvPr id="18" name="Text 16"/>
          <p:cNvSpPr/>
          <p:nvPr/>
        </p:nvSpPr>
        <p:spPr>
          <a:xfrm>
            <a:off x="731520" y="3959352"/>
            <a:ext cx="1097280" cy="365760"/>
          </a:xfrm>
          <a:prstGeom prst="rect">
            <a:avLst/>
          </a:prstGeom>
          <a:noFill/>
          <a:ln/>
        </p:spPr>
        <p:txBody>
          <a:bodyPr wrap="square" lIns="0" tIns="0" rIns="0" bIns="0" rtlCol="0" anchor="ctr"/>
          <a:lstStyle/>
          <a:p>
            <a:pPr indent="0" marL="0">
              <a:buNone/>
            </a:pPr>
            <a:r>
              <a:rPr lang="en-US" sz="1800" b="1" dirty="0">
                <a:solidFill>
                  <a:srgbClr val="9A1F3D"/>
                </a:solidFill>
                <a:latin typeface="Calibri" pitchFamily="34" charset="0"/>
                <a:ea typeface="Calibri" pitchFamily="34" charset="-122"/>
                <a:cs typeface="Calibri" pitchFamily="34" charset="-120"/>
              </a:rPr>
              <a:t>03</a:t>
            </a:r>
            <a:endParaRPr lang="en-US" sz="1800" dirty="0"/>
          </a:p>
        </p:txBody>
      </p:sp>
      <p:sp>
        <p:nvSpPr>
          <p:cNvPr id="19" name="Text 17"/>
          <p:cNvSpPr/>
          <p:nvPr/>
        </p:nvSpPr>
        <p:spPr>
          <a:xfrm>
            <a:off x="731520" y="4416552"/>
            <a:ext cx="4937760" cy="457200"/>
          </a:xfrm>
          <a:prstGeom prst="rect">
            <a:avLst/>
          </a:prstGeom>
          <a:noFill/>
          <a:ln/>
        </p:spPr>
        <p:txBody>
          <a:bodyPr wrap="square" lIns="0" tIns="0" rIns="0" bIns="0" rtlCol="0" anchor="ctr"/>
          <a:lstStyle/>
          <a:p>
            <a:pPr indent="0" marL="0">
              <a:buNone/>
            </a:pPr>
            <a:r>
              <a:rPr lang="en-US" sz="2000" b="1" dirty="0">
                <a:solidFill>
                  <a:srgbClr val="103060"/>
                </a:solidFill>
                <a:latin typeface="Calibri" pitchFamily="34" charset="0"/>
                <a:ea typeface="Calibri" pitchFamily="34" charset="-122"/>
                <a:cs typeface="Calibri" pitchFamily="34" charset="-120"/>
              </a:rPr>
              <a:t>Two homes, two jobs</a:t>
            </a:r>
            <a:endParaRPr lang="en-US" sz="2000" dirty="0"/>
          </a:p>
        </p:txBody>
      </p:sp>
      <p:sp>
        <p:nvSpPr>
          <p:cNvPr id="20" name="Text 18"/>
          <p:cNvSpPr/>
          <p:nvPr/>
        </p:nvSpPr>
        <p:spPr>
          <a:xfrm>
            <a:off x="731520" y="4965192"/>
            <a:ext cx="4937760" cy="68580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Global Virtual Campus is where a learner continues. The long platform page is the product story.</a:t>
            </a:r>
            <a:endParaRPr lang="en-US" sz="1500" dirty="0"/>
          </a:p>
        </p:txBody>
      </p:sp>
      <p:sp>
        <p:nvSpPr>
          <p:cNvPr id="21" name="Shape 19"/>
          <p:cNvSpPr/>
          <p:nvPr/>
        </p:nvSpPr>
        <p:spPr>
          <a:xfrm>
            <a:off x="6263640" y="3703320"/>
            <a:ext cx="5577840" cy="2240280"/>
          </a:xfrm>
          <a:prstGeom prst="roundRect">
            <a:avLst>
              <a:gd name="adj" fmla="val 3265"/>
            </a:avLst>
          </a:prstGeom>
          <a:solidFill>
            <a:srgbClr val="FFFFFF"/>
          </a:solidFill>
          <a:ln/>
          <a:effectLst>
            <a:outerShdw sx="100000" sy="100000" kx="0" ky="0" algn="bl" rotWithShape="0" blurRad="127000" dist="25400" dir="16200000">
              <a:srgbClr val="103060">
                <a:alpha val="8000"/>
              </a:srgbClr>
            </a:outerShdw>
          </a:effectLst>
        </p:spPr>
      </p:sp>
      <p:sp>
        <p:nvSpPr>
          <p:cNvPr id="22" name="Shape 20"/>
          <p:cNvSpPr/>
          <p:nvPr/>
        </p:nvSpPr>
        <p:spPr>
          <a:xfrm>
            <a:off x="6263640" y="3703320"/>
            <a:ext cx="91440" cy="2240280"/>
          </a:xfrm>
          <a:prstGeom prst="rect">
            <a:avLst/>
          </a:prstGeom>
          <a:solidFill>
            <a:srgbClr val="9A1F3D"/>
          </a:solidFill>
          <a:ln/>
        </p:spPr>
      </p:sp>
      <p:sp>
        <p:nvSpPr>
          <p:cNvPr id="23" name="Text 21"/>
          <p:cNvSpPr/>
          <p:nvPr/>
        </p:nvSpPr>
        <p:spPr>
          <a:xfrm>
            <a:off x="6583680" y="3959352"/>
            <a:ext cx="1097280" cy="365760"/>
          </a:xfrm>
          <a:prstGeom prst="rect">
            <a:avLst/>
          </a:prstGeom>
          <a:noFill/>
          <a:ln/>
        </p:spPr>
        <p:txBody>
          <a:bodyPr wrap="square" lIns="0" tIns="0" rIns="0" bIns="0" rtlCol="0" anchor="ctr"/>
          <a:lstStyle/>
          <a:p>
            <a:pPr indent="0" marL="0">
              <a:buNone/>
            </a:pPr>
            <a:r>
              <a:rPr lang="en-US" sz="1800" b="1" dirty="0">
                <a:solidFill>
                  <a:srgbClr val="9A1F3D"/>
                </a:solidFill>
                <a:latin typeface="Calibri" pitchFamily="34" charset="0"/>
                <a:ea typeface="Calibri" pitchFamily="34" charset="-122"/>
                <a:cs typeface="Calibri" pitchFamily="34" charset="-120"/>
              </a:rPr>
              <a:t>04</a:t>
            </a:r>
            <a:endParaRPr lang="en-US" sz="1800" dirty="0"/>
          </a:p>
        </p:txBody>
      </p:sp>
      <p:sp>
        <p:nvSpPr>
          <p:cNvPr id="24" name="Text 22"/>
          <p:cNvSpPr/>
          <p:nvPr/>
        </p:nvSpPr>
        <p:spPr>
          <a:xfrm>
            <a:off x="6583680" y="4416552"/>
            <a:ext cx="4937760" cy="457200"/>
          </a:xfrm>
          <a:prstGeom prst="rect">
            <a:avLst/>
          </a:prstGeom>
          <a:noFill/>
          <a:ln/>
        </p:spPr>
        <p:txBody>
          <a:bodyPr wrap="square" lIns="0" tIns="0" rIns="0" bIns="0" rtlCol="0" anchor="ctr"/>
          <a:lstStyle/>
          <a:p>
            <a:pPr indent="0" marL="0">
              <a:buNone/>
            </a:pPr>
            <a:r>
              <a:rPr lang="en-US" sz="2000" b="1" dirty="0">
                <a:solidFill>
                  <a:srgbClr val="103060"/>
                </a:solidFill>
                <a:latin typeface="Calibri" pitchFamily="34" charset="0"/>
                <a:ea typeface="Calibri" pitchFamily="34" charset="-122"/>
                <a:cs typeface="Calibri" pitchFamily="34" charset="-120"/>
              </a:rPr>
              <a:t>The front door comes first</a:t>
            </a:r>
            <a:endParaRPr lang="en-US" sz="2000" dirty="0"/>
          </a:p>
        </p:txBody>
      </p:sp>
      <p:sp>
        <p:nvSpPr>
          <p:cNvPr id="25" name="Text 23"/>
          <p:cNvSpPr/>
          <p:nvPr/>
        </p:nvSpPr>
        <p:spPr>
          <a:xfrm>
            <a:off x="6583680" y="4965192"/>
            <a:ext cx="4937760" cy="68580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We agree the menu before we rebuild every page underneath it.</a:t>
            </a:r>
            <a:endParaRPr lang="en-US" sz="1500" dirty="0"/>
          </a:p>
        </p:txBody>
      </p:sp>
      <p:sp>
        <p:nvSpPr>
          <p:cNvPr id="26" name="Text 24"/>
          <p:cNvSpPr/>
          <p:nvPr/>
        </p:nvSpPr>
        <p:spPr>
          <a:xfrm>
            <a:off x="457200" y="6547104"/>
            <a:ext cx="9326880" cy="201168"/>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EON Reality   ·   Website suggestion   ·   October 2026</a:t>
            </a:r>
            <a:endParaRPr lang="en-US" sz="1100" dirty="0"/>
          </a:p>
        </p:txBody>
      </p:sp>
      <p:sp>
        <p:nvSpPr>
          <p:cNvPr id="27" name="Text 25"/>
          <p:cNvSpPr/>
          <p:nvPr/>
        </p:nvSpPr>
        <p:spPr>
          <a:xfrm>
            <a:off x="10241280" y="6547104"/>
            <a:ext cx="1463040" cy="201168"/>
          </a:xfrm>
          <a:prstGeom prst="rect">
            <a:avLst/>
          </a:prstGeom>
          <a:noFill/>
          <a:ln/>
        </p:spPr>
        <p:txBody>
          <a:bodyPr wrap="square" lIns="0" tIns="0" rIns="0" bIns="0" rtlCol="0" anchor="ctr"/>
          <a:lstStyle/>
          <a:p>
            <a:pPr algn="r" indent="0" marL="0">
              <a:buNone/>
            </a:pPr>
            <a:r>
              <a:rPr lang="en-US" sz="1100" dirty="0">
                <a:solidFill>
                  <a:srgbClr val="5C6B7A"/>
                </a:solidFill>
                <a:latin typeface="Calibri" pitchFamily="34" charset="0"/>
                <a:ea typeface="Calibri" pitchFamily="34" charset="-122"/>
                <a:cs typeface="Calibri" pitchFamily="34" charset="-120"/>
              </a:rPr>
              <a:t>2  /  14</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F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3060"/>
          </a:solidFill>
          <a:ln/>
        </p:spPr>
      </p:sp>
      <p:sp>
        <p:nvSpPr>
          <p:cNvPr id="3" name="Shape 1"/>
          <p:cNvSpPr/>
          <p:nvPr/>
        </p:nvSpPr>
        <p:spPr>
          <a:xfrm>
            <a:off x="0" y="73152"/>
            <a:ext cx="12191695" cy="41148"/>
          </a:xfrm>
          <a:prstGeom prst="rect">
            <a:avLst/>
          </a:prstGeom>
          <a:solidFill>
            <a:srgbClr val="9A1F3D"/>
          </a:solidFill>
          <a:ln/>
        </p:spPr>
      </p:sp>
      <p:sp>
        <p:nvSpPr>
          <p:cNvPr id="4" name="Text 2"/>
          <p:cNvSpPr/>
          <p:nvPr/>
        </p:nvSpPr>
        <p:spPr>
          <a:xfrm>
            <a:off x="457200" y="256032"/>
            <a:ext cx="11247120" cy="237744"/>
          </a:xfrm>
          <a:prstGeom prst="rect">
            <a:avLst/>
          </a:prstGeom>
          <a:noFill/>
          <a:ln/>
        </p:spPr>
        <p:txBody>
          <a:bodyPr wrap="square" lIns="0" tIns="0" rIns="0" bIns="0" rtlCol="0" anchor="ctr"/>
          <a:lstStyle/>
          <a:p>
            <a:pPr indent="0" marL="0">
              <a:buNone/>
            </a:pPr>
            <a:r>
              <a:rPr lang="en-US" sz="1200" b="1" dirty="0">
                <a:solidFill>
                  <a:srgbClr val="9A1F3D"/>
                </a:solidFill>
                <a:latin typeface="Calibri" pitchFamily="34" charset="0"/>
                <a:ea typeface="Calibri" pitchFamily="34" charset="-122"/>
                <a:cs typeface="Calibri" pitchFamily="34" charset="-120"/>
              </a:rPr>
              <a:t>THE IDEA</a:t>
            </a:r>
            <a:endParaRPr lang="en-US" sz="1200" dirty="0"/>
          </a:p>
        </p:txBody>
      </p:sp>
      <p:sp>
        <p:nvSpPr>
          <p:cNvPr id="5" name="Text 3"/>
          <p:cNvSpPr/>
          <p:nvPr/>
        </p:nvSpPr>
        <p:spPr>
          <a:xfrm>
            <a:off x="457200" y="475488"/>
            <a:ext cx="11247120" cy="420624"/>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One platform. Two products. One loop.</a:t>
            </a:r>
            <a:endParaRPr lang="en-US" sz="2600" dirty="0"/>
          </a:p>
        </p:txBody>
      </p:sp>
      <p:sp>
        <p:nvSpPr>
          <p:cNvPr id="6" name="Shape 4"/>
          <p:cNvSpPr/>
          <p:nvPr/>
        </p:nvSpPr>
        <p:spPr>
          <a:xfrm>
            <a:off x="411480" y="1280160"/>
            <a:ext cx="3703320" cy="3794760"/>
          </a:xfrm>
          <a:prstGeom prst="roundRect">
            <a:avLst>
              <a:gd name="adj" fmla="val 1975"/>
            </a:avLst>
          </a:prstGeom>
          <a:solidFill>
            <a:srgbClr val="FFFFFF"/>
          </a:solidFill>
          <a:ln/>
          <a:effectLst>
            <a:outerShdw sx="100000" sy="100000" kx="0" ky="0" algn="bl" rotWithShape="0" blurRad="127000" dist="25400" dir="16200000">
              <a:srgbClr val="103060">
                <a:alpha val="8000"/>
              </a:srgbClr>
            </a:outerShdw>
          </a:effectLst>
        </p:spPr>
      </p:sp>
      <p:sp>
        <p:nvSpPr>
          <p:cNvPr id="7" name="Shape 5"/>
          <p:cNvSpPr/>
          <p:nvPr/>
        </p:nvSpPr>
        <p:spPr>
          <a:xfrm>
            <a:off x="411480" y="1280160"/>
            <a:ext cx="3703320" cy="109728"/>
          </a:xfrm>
          <a:prstGeom prst="rect">
            <a:avLst/>
          </a:prstGeom>
          <a:solidFill>
            <a:srgbClr val="103060"/>
          </a:solidFill>
          <a:ln/>
        </p:spPr>
      </p:sp>
      <p:sp>
        <p:nvSpPr>
          <p:cNvPr id="8" name="Text 6"/>
          <p:cNvSpPr/>
          <p:nvPr/>
        </p:nvSpPr>
        <p:spPr>
          <a:xfrm>
            <a:off x="667512" y="1600200"/>
            <a:ext cx="3200400" cy="292608"/>
          </a:xfrm>
          <a:prstGeom prst="rect">
            <a:avLst/>
          </a:prstGeom>
          <a:noFill/>
          <a:ln/>
        </p:spPr>
        <p:txBody>
          <a:bodyPr wrap="square" lIns="0" tIns="0" rIns="0" bIns="0" rtlCol="0" anchor="ctr"/>
          <a:lstStyle/>
          <a:p>
            <a:pPr indent="0" marL="0">
              <a:buNone/>
            </a:pPr>
            <a:r>
              <a:rPr lang="en-US" sz="1300" b="1" dirty="0">
                <a:solidFill>
                  <a:srgbClr val="9A1F3D"/>
                </a:solidFill>
                <a:latin typeface="Calibri" pitchFamily="34" charset="0"/>
                <a:ea typeface="Calibri" pitchFamily="34" charset="-122"/>
                <a:cs typeface="Calibri" pitchFamily="34" charset="-120"/>
              </a:rPr>
              <a:t>DIGITAL TWIN</a:t>
            </a:r>
            <a:endParaRPr lang="en-US" sz="1300" dirty="0"/>
          </a:p>
        </p:txBody>
      </p:sp>
      <p:sp>
        <p:nvSpPr>
          <p:cNvPr id="9" name="Text 7"/>
          <p:cNvSpPr/>
          <p:nvPr/>
        </p:nvSpPr>
        <p:spPr>
          <a:xfrm>
            <a:off x="667512" y="1965960"/>
            <a:ext cx="3200400" cy="1051560"/>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Learn and train</a:t>
            </a:r>
            <a:endParaRPr lang="en-US" sz="2600" dirty="0"/>
          </a:p>
        </p:txBody>
      </p:sp>
      <p:sp>
        <p:nvSpPr>
          <p:cNvPr id="10" name="Text 8"/>
          <p:cNvSpPr/>
          <p:nvPr/>
        </p:nvSpPr>
        <p:spPr>
          <a:xfrm>
            <a:off x="667512" y="3200400"/>
            <a:ext cx="3200400" cy="1280160"/>
          </a:xfrm>
          <a:prstGeom prst="rect">
            <a:avLst/>
          </a:prstGeom>
          <a:noFill/>
          <a:ln/>
        </p:spPr>
        <p:txBody>
          <a:bodyPr wrap="square" lIns="0" tIns="0" rIns="0" bIns="0" rtlCol="0" anchor="ctr"/>
          <a:lstStyle/>
          <a:p>
            <a:pPr indent="0" marL="0">
              <a:buNone/>
            </a:pPr>
            <a:r>
              <a:rPr lang="en-US" sz="1600" dirty="0">
                <a:solidFill>
                  <a:srgbClr val="142033"/>
                </a:solidFill>
                <a:latin typeface="Calibri" pitchFamily="34" charset="0"/>
                <a:ea typeface="Calibri" pitchFamily="34" charset="-122"/>
                <a:cs typeface="Calibri" pitchFamily="34" charset="-120"/>
              </a:rPr>
              <a:t>The place, the subject, and the practice.</a:t>
            </a:r>
            <a:endParaRPr lang="en-US" sz="1600" dirty="0"/>
          </a:p>
        </p:txBody>
      </p:sp>
      <p:sp>
        <p:nvSpPr>
          <p:cNvPr id="11" name="Shape 9"/>
          <p:cNvSpPr/>
          <p:nvPr/>
        </p:nvSpPr>
        <p:spPr>
          <a:xfrm>
            <a:off x="4297680" y="1280160"/>
            <a:ext cx="3703320" cy="3794760"/>
          </a:xfrm>
          <a:prstGeom prst="roundRect">
            <a:avLst>
              <a:gd name="adj" fmla="val 1975"/>
            </a:avLst>
          </a:prstGeom>
          <a:solidFill>
            <a:srgbClr val="FFFFFF"/>
          </a:solidFill>
          <a:ln/>
          <a:effectLst>
            <a:outerShdw sx="100000" sy="100000" kx="0" ky="0" algn="bl" rotWithShape="0" blurRad="127000" dist="25400" dir="16200000">
              <a:srgbClr val="103060">
                <a:alpha val="8000"/>
              </a:srgbClr>
            </a:outerShdw>
          </a:effectLst>
        </p:spPr>
      </p:sp>
      <p:sp>
        <p:nvSpPr>
          <p:cNvPr id="12" name="Shape 10"/>
          <p:cNvSpPr/>
          <p:nvPr/>
        </p:nvSpPr>
        <p:spPr>
          <a:xfrm>
            <a:off x="4297680" y="1280160"/>
            <a:ext cx="3703320" cy="109728"/>
          </a:xfrm>
          <a:prstGeom prst="rect">
            <a:avLst/>
          </a:prstGeom>
          <a:solidFill>
            <a:srgbClr val="9A1F3D"/>
          </a:solidFill>
          <a:ln/>
        </p:spPr>
      </p:sp>
      <p:sp>
        <p:nvSpPr>
          <p:cNvPr id="13" name="Text 11"/>
          <p:cNvSpPr/>
          <p:nvPr/>
        </p:nvSpPr>
        <p:spPr>
          <a:xfrm>
            <a:off x="4553712" y="1600200"/>
            <a:ext cx="3200400" cy="292608"/>
          </a:xfrm>
          <a:prstGeom prst="rect">
            <a:avLst/>
          </a:prstGeom>
          <a:noFill/>
          <a:ln/>
        </p:spPr>
        <p:txBody>
          <a:bodyPr wrap="square" lIns="0" tIns="0" rIns="0" bIns="0" rtlCol="0" anchor="ctr"/>
          <a:lstStyle/>
          <a:p>
            <a:pPr indent="0" marL="0">
              <a:buNone/>
            </a:pPr>
            <a:r>
              <a:rPr lang="en-US" sz="1300" b="1" dirty="0">
                <a:solidFill>
                  <a:srgbClr val="9A1F3D"/>
                </a:solidFill>
                <a:latin typeface="Calibri" pitchFamily="34" charset="0"/>
                <a:ea typeface="Calibri" pitchFamily="34" charset="-122"/>
                <a:cs typeface="Calibri" pitchFamily="34" charset="-120"/>
              </a:rPr>
              <a:t>WORK LOOP</a:t>
            </a:r>
            <a:endParaRPr lang="en-US" sz="1300" dirty="0"/>
          </a:p>
        </p:txBody>
      </p:sp>
      <p:sp>
        <p:nvSpPr>
          <p:cNvPr id="14" name="Text 12"/>
          <p:cNvSpPr/>
          <p:nvPr/>
        </p:nvSpPr>
        <p:spPr>
          <a:xfrm>
            <a:off x="4553712" y="1965960"/>
            <a:ext cx="3200400" cy="1051560"/>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Perform</a:t>
            </a:r>
            <a:endParaRPr lang="en-US" sz="2600" dirty="0"/>
          </a:p>
        </p:txBody>
      </p:sp>
      <p:sp>
        <p:nvSpPr>
          <p:cNvPr id="15" name="Text 13"/>
          <p:cNvSpPr/>
          <p:nvPr/>
        </p:nvSpPr>
        <p:spPr>
          <a:xfrm>
            <a:off x="4553712" y="3200400"/>
            <a:ext cx="3200400" cy="1280160"/>
          </a:xfrm>
          <a:prstGeom prst="rect">
            <a:avLst/>
          </a:prstGeom>
          <a:noFill/>
          <a:ln/>
        </p:spPr>
        <p:txBody>
          <a:bodyPr wrap="square" lIns="0" tIns="0" rIns="0" bIns="0" rtlCol="0" anchor="ctr"/>
          <a:lstStyle/>
          <a:p>
            <a:pPr indent="0" marL="0">
              <a:buNone/>
            </a:pPr>
            <a:r>
              <a:rPr lang="en-US" sz="1600" dirty="0">
                <a:solidFill>
                  <a:srgbClr val="142033"/>
                </a:solidFill>
                <a:latin typeface="Calibri" pitchFamily="34" charset="0"/>
                <a:ea typeface="Calibri" pitchFamily="34" charset="-122"/>
                <a:cs typeface="Calibri" pitchFamily="34" charset="-120"/>
              </a:rPr>
              <a:t>The job, the evidence, and the next improvement.</a:t>
            </a:r>
            <a:endParaRPr lang="en-US" sz="1600" dirty="0"/>
          </a:p>
        </p:txBody>
      </p:sp>
      <p:sp>
        <p:nvSpPr>
          <p:cNvPr id="16" name="Shape 14"/>
          <p:cNvSpPr/>
          <p:nvPr/>
        </p:nvSpPr>
        <p:spPr>
          <a:xfrm>
            <a:off x="8183880" y="1280160"/>
            <a:ext cx="3703320" cy="3794760"/>
          </a:xfrm>
          <a:prstGeom prst="roundRect">
            <a:avLst>
              <a:gd name="adj" fmla="val 1975"/>
            </a:avLst>
          </a:prstGeom>
          <a:solidFill>
            <a:srgbClr val="FFFFFF"/>
          </a:solidFill>
          <a:ln/>
          <a:effectLst>
            <a:outerShdw sx="100000" sy="100000" kx="0" ky="0" algn="bl" rotWithShape="0" blurRad="127000" dist="25400" dir="16200000">
              <a:srgbClr val="103060">
                <a:alpha val="8000"/>
              </a:srgbClr>
            </a:outerShdw>
          </a:effectLst>
        </p:spPr>
      </p:sp>
      <p:sp>
        <p:nvSpPr>
          <p:cNvPr id="17" name="Shape 15"/>
          <p:cNvSpPr/>
          <p:nvPr/>
        </p:nvSpPr>
        <p:spPr>
          <a:xfrm>
            <a:off x="8183880" y="1280160"/>
            <a:ext cx="3703320" cy="109728"/>
          </a:xfrm>
          <a:prstGeom prst="rect">
            <a:avLst/>
          </a:prstGeom>
          <a:solidFill>
            <a:srgbClr val="2A4A7A"/>
          </a:solidFill>
          <a:ln/>
        </p:spPr>
      </p:sp>
      <p:sp>
        <p:nvSpPr>
          <p:cNvPr id="18" name="Text 16"/>
          <p:cNvSpPr/>
          <p:nvPr/>
        </p:nvSpPr>
        <p:spPr>
          <a:xfrm>
            <a:off x="8439912" y="1600200"/>
            <a:ext cx="3200400" cy="292608"/>
          </a:xfrm>
          <a:prstGeom prst="rect">
            <a:avLst/>
          </a:prstGeom>
          <a:noFill/>
          <a:ln/>
        </p:spPr>
        <p:txBody>
          <a:bodyPr wrap="square" lIns="0" tIns="0" rIns="0" bIns="0" rtlCol="0" anchor="ctr"/>
          <a:lstStyle/>
          <a:p>
            <a:pPr indent="0" marL="0">
              <a:buNone/>
            </a:pPr>
            <a:r>
              <a:rPr lang="en-US" sz="1300" b="1" dirty="0">
                <a:solidFill>
                  <a:srgbClr val="9A1F3D"/>
                </a:solidFill>
                <a:latin typeface="Calibri" pitchFamily="34" charset="0"/>
                <a:ea typeface="Calibri" pitchFamily="34" charset="-122"/>
                <a:cs typeface="Calibri" pitchFamily="34" charset="-120"/>
              </a:rPr>
              <a:t>OUTCOMES</a:t>
            </a:r>
            <a:endParaRPr lang="en-US" sz="1300" dirty="0"/>
          </a:p>
        </p:txBody>
      </p:sp>
      <p:sp>
        <p:nvSpPr>
          <p:cNvPr id="19" name="Text 17"/>
          <p:cNvSpPr/>
          <p:nvPr/>
        </p:nvSpPr>
        <p:spPr>
          <a:xfrm>
            <a:off x="8439912" y="1965960"/>
            <a:ext cx="3200400" cy="1051560"/>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Get the job and secure it</a:t>
            </a:r>
            <a:endParaRPr lang="en-US" sz="2600" dirty="0"/>
          </a:p>
        </p:txBody>
      </p:sp>
      <p:sp>
        <p:nvSpPr>
          <p:cNvPr id="20" name="Text 18"/>
          <p:cNvSpPr/>
          <p:nvPr/>
        </p:nvSpPr>
        <p:spPr>
          <a:xfrm>
            <a:off x="8439912" y="3200400"/>
            <a:ext cx="3200400" cy="1280160"/>
          </a:xfrm>
          <a:prstGeom prst="rect">
            <a:avLst/>
          </a:prstGeom>
          <a:noFill/>
          <a:ln/>
        </p:spPr>
        <p:txBody>
          <a:bodyPr wrap="square" lIns="0" tIns="0" rIns="0" bIns="0" rtlCol="0" anchor="ctr"/>
          <a:lstStyle/>
          <a:p>
            <a:pPr indent="0" marL="0">
              <a:buNone/>
            </a:pPr>
            <a:r>
              <a:rPr lang="en-US" sz="1600" dirty="0">
                <a:solidFill>
                  <a:srgbClr val="142033"/>
                </a:solidFill>
                <a:latin typeface="Calibri" pitchFamily="34" charset="0"/>
                <a:ea typeface="Calibri" pitchFamily="34" charset="-122"/>
                <a:cs typeface="Calibri" pitchFamily="34" charset="-120"/>
              </a:rPr>
              <a:t>Career Compass, Venture Builder, AI Fluency, Sentient Worlds.</a:t>
            </a:r>
            <a:endParaRPr lang="en-US" sz="1600" dirty="0"/>
          </a:p>
        </p:txBody>
      </p:sp>
      <p:sp>
        <p:nvSpPr>
          <p:cNvPr id="21" name="Shape 19"/>
          <p:cNvSpPr/>
          <p:nvPr/>
        </p:nvSpPr>
        <p:spPr>
          <a:xfrm>
            <a:off x="411480" y="5257800"/>
            <a:ext cx="11338560" cy="1051560"/>
          </a:xfrm>
          <a:prstGeom prst="roundRect">
            <a:avLst>
              <a:gd name="adj" fmla="val 6957"/>
            </a:avLst>
          </a:prstGeom>
          <a:solidFill>
            <a:srgbClr val="FFFFFF"/>
          </a:solidFill>
          <a:ln/>
        </p:spPr>
      </p:sp>
      <p:sp>
        <p:nvSpPr>
          <p:cNvPr id="22" name="Text 20"/>
          <p:cNvSpPr/>
          <p:nvPr/>
        </p:nvSpPr>
        <p:spPr>
          <a:xfrm>
            <a:off x="640080" y="5440680"/>
            <a:ext cx="10881360" cy="685800"/>
          </a:xfrm>
          <a:prstGeom prst="rect">
            <a:avLst/>
          </a:prstGeom>
          <a:noFill/>
          <a:ln/>
        </p:spPr>
        <p:txBody>
          <a:bodyPr wrap="square" lIns="0" tIns="0" rIns="0" bIns="0" rtlCol="0" anchor="ctr"/>
          <a:lstStyle/>
          <a:p>
            <a:pPr indent="0" marL="0">
              <a:buNone/>
            </a:pPr>
            <a:r>
              <a:rPr lang="en-US" sz="1600" dirty="0">
                <a:solidFill>
                  <a:srgbClr val="142033"/>
                </a:solidFill>
                <a:latin typeface="Calibri" pitchFamily="34" charset="0"/>
                <a:ea typeface="Calibri" pitchFamily="34" charset="-122"/>
                <a:cs typeface="Calibri" pitchFamily="34" charset="-120"/>
              </a:rPr>
              <a:t>Shared intelligence sits with Perform, not as a fifth column.   Competence IQ and EON Control.   Assist IQ stays off.</a:t>
            </a:r>
            <a:endParaRPr lang="en-US" sz="1600" dirty="0"/>
          </a:p>
        </p:txBody>
      </p:sp>
      <p:sp>
        <p:nvSpPr>
          <p:cNvPr id="23" name="Text 21"/>
          <p:cNvSpPr/>
          <p:nvPr/>
        </p:nvSpPr>
        <p:spPr>
          <a:xfrm>
            <a:off x="457200" y="6547104"/>
            <a:ext cx="9326880" cy="201168"/>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EON Reality   ·   Website suggestion   ·   October 2026</a:t>
            </a:r>
            <a:endParaRPr lang="en-US" sz="1100" dirty="0"/>
          </a:p>
        </p:txBody>
      </p:sp>
      <p:sp>
        <p:nvSpPr>
          <p:cNvPr id="24" name="Text 22"/>
          <p:cNvSpPr/>
          <p:nvPr/>
        </p:nvSpPr>
        <p:spPr>
          <a:xfrm>
            <a:off x="10241280" y="6547104"/>
            <a:ext cx="1463040" cy="201168"/>
          </a:xfrm>
          <a:prstGeom prst="rect">
            <a:avLst/>
          </a:prstGeom>
          <a:noFill/>
          <a:ln/>
        </p:spPr>
        <p:txBody>
          <a:bodyPr wrap="square" lIns="0" tIns="0" rIns="0" bIns="0" rtlCol="0" anchor="ctr"/>
          <a:lstStyle/>
          <a:p>
            <a:pPr algn="r" indent="0" marL="0">
              <a:buNone/>
            </a:pPr>
            <a:r>
              <a:rPr lang="en-US" sz="1100" dirty="0">
                <a:solidFill>
                  <a:srgbClr val="5C6B7A"/>
                </a:solidFill>
                <a:latin typeface="Calibri" pitchFamily="34" charset="0"/>
                <a:ea typeface="Calibri" pitchFamily="34" charset="-122"/>
                <a:cs typeface="Calibri" pitchFamily="34" charset="-120"/>
              </a:rPr>
              <a:t>3  /  14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F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3060"/>
          </a:solidFill>
          <a:ln/>
        </p:spPr>
      </p:sp>
      <p:sp>
        <p:nvSpPr>
          <p:cNvPr id="3" name="Shape 1"/>
          <p:cNvSpPr/>
          <p:nvPr/>
        </p:nvSpPr>
        <p:spPr>
          <a:xfrm>
            <a:off x="0" y="73152"/>
            <a:ext cx="12191695" cy="41148"/>
          </a:xfrm>
          <a:prstGeom prst="rect">
            <a:avLst/>
          </a:prstGeom>
          <a:solidFill>
            <a:srgbClr val="9A1F3D"/>
          </a:solidFill>
          <a:ln/>
        </p:spPr>
      </p:sp>
      <p:sp>
        <p:nvSpPr>
          <p:cNvPr id="4" name="Text 2"/>
          <p:cNvSpPr/>
          <p:nvPr/>
        </p:nvSpPr>
        <p:spPr>
          <a:xfrm>
            <a:off x="457200" y="256032"/>
            <a:ext cx="11247120" cy="237744"/>
          </a:xfrm>
          <a:prstGeom prst="rect">
            <a:avLst/>
          </a:prstGeom>
          <a:noFill/>
          <a:ln/>
        </p:spPr>
        <p:txBody>
          <a:bodyPr wrap="square" lIns="0" tIns="0" rIns="0" bIns="0" rtlCol="0" anchor="ctr"/>
          <a:lstStyle/>
          <a:p>
            <a:pPr indent="0" marL="0">
              <a:buNone/>
            </a:pPr>
            <a:r>
              <a:rPr lang="en-US" sz="1200" b="1" dirty="0">
                <a:solidFill>
                  <a:srgbClr val="9A1F3D"/>
                </a:solidFill>
                <a:latin typeface="Calibri" pitchFamily="34" charset="0"/>
                <a:ea typeface="Calibri" pitchFamily="34" charset="-122"/>
                <a:cs typeface="Calibri" pitchFamily="34" charset="-120"/>
              </a:rPr>
              <a:t>STRUCTURE</a:t>
            </a:r>
            <a:endParaRPr lang="en-US" sz="1200" dirty="0"/>
          </a:p>
        </p:txBody>
      </p:sp>
      <p:sp>
        <p:nvSpPr>
          <p:cNvPr id="5" name="Text 3"/>
          <p:cNvSpPr/>
          <p:nvPr/>
        </p:nvSpPr>
        <p:spPr>
          <a:xfrm>
            <a:off x="457200" y="475488"/>
            <a:ext cx="11247120" cy="420624"/>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Three layers. The top opens the story.</a:t>
            </a:r>
            <a:endParaRPr lang="en-US" sz="2600" dirty="0"/>
          </a:p>
        </p:txBody>
      </p:sp>
      <p:sp>
        <p:nvSpPr>
          <p:cNvPr id="6" name="Shape 4"/>
          <p:cNvSpPr/>
          <p:nvPr/>
        </p:nvSpPr>
        <p:spPr>
          <a:xfrm>
            <a:off x="411480" y="1234440"/>
            <a:ext cx="11338560" cy="1280160"/>
          </a:xfrm>
          <a:prstGeom prst="roundRect">
            <a:avLst>
              <a:gd name="adj" fmla="val 5714"/>
            </a:avLst>
          </a:prstGeom>
          <a:solidFill>
            <a:srgbClr val="FFFFFF"/>
          </a:solidFill>
          <a:ln/>
          <a:effectLst>
            <a:outerShdw sx="100000" sy="100000" kx="0" ky="0" algn="bl" rotWithShape="0" blurRad="127000" dist="25400" dir="16200000">
              <a:srgbClr val="103060">
                <a:alpha val="8000"/>
              </a:srgbClr>
            </a:outerShdw>
          </a:effectLst>
        </p:spPr>
      </p:sp>
      <p:sp>
        <p:nvSpPr>
          <p:cNvPr id="7" name="Shape 5"/>
          <p:cNvSpPr/>
          <p:nvPr/>
        </p:nvSpPr>
        <p:spPr>
          <a:xfrm>
            <a:off x="640080" y="1554480"/>
            <a:ext cx="640080" cy="640080"/>
          </a:xfrm>
          <a:prstGeom prst="ellipse">
            <a:avLst/>
          </a:prstGeom>
          <a:solidFill>
            <a:srgbClr val="103060"/>
          </a:solidFill>
          <a:ln/>
        </p:spPr>
      </p:sp>
      <p:sp>
        <p:nvSpPr>
          <p:cNvPr id="8" name="Text 6"/>
          <p:cNvSpPr/>
          <p:nvPr/>
        </p:nvSpPr>
        <p:spPr>
          <a:xfrm>
            <a:off x="640080" y="1673352"/>
            <a:ext cx="64008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554480" y="1435608"/>
            <a:ext cx="9784080" cy="365760"/>
          </a:xfrm>
          <a:prstGeom prst="rect">
            <a:avLst/>
          </a:prstGeom>
          <a:noFill/>
          <a:ln/>
        </p:spPr>
        <p:txBody>
          <a:bodyPr wrap="square" lIns="0" tIns="0" rIns="0" bIns="0" rtlCol="0" anchor="ctr"/>
          <a:lstStyle/>
          <a:p>
            <a:pPr indent="0" marL="0">
              <a:buNone/>
            </a:pPr>
            <a:r>
              <a:rPr lang="en-US" sz="2000" b="1" dirty="0">
                <a:solidFill>
                  <a:srgbClr val="103060"/>
                </a:solidFill>
                <a:latin typeface="Calibri" pitchFamily="34" charset="0"/>
                <a:ea typeface="Calibri" pitchFamily="34" charset="-122"/>
                <a:cs typeface="Calibri" pitchFamily="34" charset="-120"/>
              </a:rPr>
              <a:t>Overview</a:t>
            </a:r>
            <a:endParaRPr lang="en-US" sz="2000" dirty="0"/>
          </a:p>
        </p:txBody>
      </p:sp>
      <p:sp>
        <p:nvSpPr>
          <p:cNvPr id="10" name="Text 8"/>
          <p:cNvSpPr/>
          <p:nvPr/>
        </p:nvSpPr>
        <p:spPr>
          <a:xfrm>
            <a:off x="1554480" y="1856232"/>
            <a:ext cx="9784080" cy="457200"/>
          </a:xfrm>
          <a:prstGeom prst="rect">
            <a:avLst/>
          </a:prstGeom>
          <a:noFill/>
          <a:ln/>
        </p:spPr>
        <p:txBody>
          <a:bodyPr wrap="square" lIns="0" tIns="0" rIns="0" bIns="0" rtlCol="0" anchor="ctr"/>
          <a:lstStyle/>
          <a:p>
            <a:pPr indent="0" marL="0">
              <a:buNone/>
            </a:pPr>
            <a:r>
              <a:rPr lang="en-US" sz="1600" dirty="0">
                <a:solidFill>
                  <a:srgbClr val="142033"/>
                </a:solidFill>
                <a:latin typeface="Calibri" pitchFamily="34" charset="0"/>
                <a:ea typeface="Calibri" pitchFamily="34" charset="-122"/>
                <a:cs typeface="Calibri" pitchFamily="34" charset="-120"/>
              </a:rPr>
              <a:t>Four columns. An icon, a SPATIAL mark, and one line. This is the menu people see first.</a:t>
            </a:r>
            <a:endParaRPr lang="en-US" sz="1600" dirty="0"/>
          </a:p>
        </p:txBody>
      </p:sp>
      <p:sp>
        <p:nvSpPr>
          <p:cNvPr id="11" name="Shape 9"/>
          <p:cNvSpPr/>
          <p:nvPr/>
        </p:nvSpPr>
        <p:spPr>
          <a:xfrm>
            <a:off x="411480" y="2651760"/>
            <a:ext cx="11338560" cy="1280160"/>
          </a:xfrm>
          <a:prstGeom prst="roundRect">
            <a:avLst>
              <a:gd name="adj" fmla="val 5714"/>
            </a:avLst>
          </a:prstGeom>
          <a:solidFill>
            <a:srgbClr val="FFFFFF"/>
          </a:solidFill>
          <a:ln/>
          <a:effectLst>
            <a:outerShdw sx="100000" sy="100000" kx="0" ky="0" algn="bl" rotWithShape="0" blurRad="127000" dist="25400" dir="16200000">
              <a:srgbClr val="103060">
                <a:alpha val="8000"/>
              </a:srgbClr>
            </a:outerShdw>
          </a:effectLst>
        </p:spPr>
      </p:sp>
      <p:sp>
        <p:nvSpPr>
          <p:cNvPr id="12" name="Shape 10"/>
          <p:cNvSpPr/>
          <p:nvPr/>
        </p:nvSpPr>
        <p:spPr>
          <a:xfrm>
            <a:off x="640080" y="2971800"/>
            <a:ext cx="640080" cy="640080"/>
          </a:xfrm>
          <a:prstGeom prst="ellipse">
            <a:avLst/>
          </a:prstGeom>
          <a:solidFill>
            <a:srgbClr val="103060"/>
          </a:solidFill>
          <a:ln/>
        </p:spPr>
      </p:sp>
      <p:sp>
        <p:nvSpPr>
          <p:cNvPr id="13" name="Text 11"/>
          <p:cNvSpPr/>
          <p:nvPr/>
        </p:nvSpPr>
        <p:spPr>
          <a:xfrm>
            <a:off x="640080" y="3090672"/>
            <a:ext cx="64008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1554480" y="2852928"/>
            <a:ext cx="9784080" cy="365760"/>
          </a:xfrm>
          <a:prstGeom prst="rect">
            <a:avLst/>
          </a:prstGeom>
          <a:noFill/>
          <a:ln/>
        </p:spPr>
        <p:txBody>
          <a:bodyPr wrap="square" lIns="0" tIns="0" rIns="0" bIns="0" rtlCol="0" anchor="ctr"/>
          <a:lstStyle/>
          <a:p>
            <a:pPr indent="0" marL="0">
              <a:buNone/>
            </a:pPr>
            <a:r>
              <a:rPr lang="en-US" sz="2000" b="1" dirty="0">
                <a:solidFill>
                  <a:srgbClr val="103060"/>
                </a:solidFill>
                <a:latin typeface="Calibri" pitchFamily="34" charset="0"/>
                <a:ea typeface="Calibri" pitchFamily="34" charset="-122"/>
                <a:cs typeface="Calibri" pitchFamily="34" charset="-120"/>
              </a:rPr>
              <a:t>The platform</a:t>
            </a:r>
            <a:endParaRPr lang="en-US" sz="2000" dirty="0"/>
          </a:p>
        </p:txBody>
      </p:sp>
      <p:sp>
        <p:nvSpPr>
          <p:cNvPr id="15" name="Text 13"/>
          <p:cNvSpPr/>
          <p:nvPr/>
        </p:nvSpPr>
        <p:spPr>
          <a:xfrm>
            <a:off x="1554480" y="3273552"/>
            <a:ext cx="9784080" cy="457200"/>
          </a:xfrm>
          <a:prstGeom prst="rect">
            <a:avLst/>
          </a:prstGeom>
          <a:noFill/>
          <a:ln/>
        </p:spPr>
        <p:txBody>
          <a:bodyPr wrap="square" lIns="0" tIns="0" rIns="0" bIns="0" rtlCol="0" anchor="ctr"/>
          <a:lstStyle/>
          <a:p>
            <a:pPr indent="0" marL="0">
              <a:buNone/>
            </a:pPr>
            <a:r>
              <a:rPr lang="en-US" sz="1600" dirty="0">
                <a:solidFill>
                  <a:srgbClr val="142033"/>
                </a:solidFill>
                <a:latin typeface="Calibri" pitchFamily="34" charset="0"/>
                <a:ea typeface="Calibri" pitchFamily="34" charset="-122"/>
                <a:cs typeface="Calibri" pitchFamily="34" charset="-120"/>
              </a:rPr>
              <a:t>One page. Digital Twin for learn and train. Work Loop for perform. Outcomes are not repeated here.</a:t>
            </a:r>
            <a:endParaRPr lang="en-US" sz="1600" dirty="0"/>
          </a:p>
        </p:txBody>
      </p:sp>
      <p:sp>
        <p:nvSpPr>
          <p:cNvPr id="16" name="Shape 14"/>
          <p:cNvSpPr/>
          <p:nvPr/>
        </p:nvSpPr>
        <p:spPr>
          <a:xfrm>
            <a:off x="411480" y="4069080"/>
            <a:ext cx="11338560" cy="1280160"/>
          </a:xfrm>
          <a:prstGeom prst="roundRect">
            <a:avLst>
              <a:gd name="adj" fmla="val 5714"/>
            </a:avLst>
          </a:prstGeom>
          <a:solidFill>
            <a:srgbClr val="FFFFFF"/>
          </a:solidFill>
          <a:ln/>
          <a:effectLst>
            <a:outerShdw sx="100000" sy="100000" kx="0" ky="0" algn="bl" rotWithShape="0" blurRad="127000" dist="25400" dir="16200000">
              <a:srgbClr val="103060">
                <a:alpha val="8000"/>
              </a:srgbClr>
            </a:outerShdw>
          </a:effectLst>
        </p:spPr>
      </p:sp>
      <p:sp>
        <p:nvSpPr>
          <p:cNvPr id="17" name="Shape 15"/>
          <p:cNvSpPr/>
          <p:nvPr/>
        </p:nvSpPr>
        <p:spPr>
          <a:xfrm>
            <a:off x="640080" y="4389120"/>
            <a:ext cx="640080" cy="640080"/>
          </a:xfrm>
          <a:prstGeom prst="ellipse">
            <a:avLst/>
          </a:prstGeom>
          <a:solidFill>
            <a:srgbClr val="103060"/>
          </a:solidFill>
          <a:ln/>
        </p:spPr>
      </p:sp>
      <p:sp>
        <p:nvSpPr>
          <p:cNvPr id="18" name="Text 16"/>
          <p:cNvSpPr/>
          <p:nvPr/>
        </p:nvSpPr>
        <p:spPr>
          <a:xfrm>
            <a:off x="640080" y="4507992"/>
            <a:ext cx="64008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1554480" y="4270248"/>
            <a:ext cx="9784080" cy="365760"/>
          </a:xfrm>
          <a:prstGeom prst="rect">
            <a:avLst/>
          </a:prstGeom>
          <a:noFill/>
          <a:ln/>
        </p:spPr>
        <p:txBody>
          <a:bodyPr wrap="square" lIns="0" tIns="0" rIns="0" bIns="0" rtlCol="0" anchor="ctr"/>
          <a:lstStyle/>
          <a:p>
            <a:pPr indent="0" marL="0">
              <a:buNone/>
            </a:pPr>
            <a:r>
              <a:rPr lang="en-US" sz="2000" b="1" dirty="0">
                <a:solidFill>
                  <a:srgbClr val="103060"/>
                </a:solidFill>
                <a:latin typeface="Calibri" pitchFamily="34" charset="0"/>
                <a:ea typeface="Calibri" pitchFamily="34" charset="-122"/>
                <a:cs typeface="Calibri" pitchFamily="34" charset="-120"/>
              </a:rPr>
              <a:t>One product</a:t>
            </a:r>
            <a:endParaRPr lang="en-US" sz="2000" dirty="0"/>
          </a:p>
        </p:txBody>
      </p:sp>
      <p:sp>
        <p:nvSpPr>
          <p:cNvPr id="20" name="Text 18"/>
          <p:cNvSpPr/>
          <p:nvPr/>
        </p:nvSpPr>
        <p:spPr>
          <a:xfrm>
            <a:off x="1554480" y="4690872"/>
            <a:ext cx="9784080" cy="457200"/>
          </a:xfrm>
          <a:prstGeom prst="rect">
            <a:avLst/>
          </a:prstGeom>
          <a:noFill/>
          <a:ln/>
        </p:spPr>
        <p:txBody>
          <a:bodyPr wrap="square" lIns="0" tIns="0" rIns="0" bIns="0" rtlCol="0" anchor="ctr"/>
          <a:lstStyle/>
          <a:p>
            <a:pPr indent="0" marL="0">
              <a:buNone/>
            </a:pPr>
            <a:r>
              <a:rPr lang="en-US" sz="1600" dirty="0">
                <a:solidFill>
                  <a:srgbClr val="142033"/>
                </a:solidFill>
                <a:latin typeface="Calibri" pitchFamily="34" charset="0"/>
                <a:ea typeface="Calibri" pitchFamily="34" charset="-122"/>
                <a:cs typeface="Calibri" pitchFamily="34" charset="-120"/>
              </a:rPr>
              <a:t>One picture, the promise, and one next step. Campus when the product lives there. Otherwise that product’s own page.</a:t>
            </a:r>
            <a:endParaRPr lang="en-US" sz="1600" dirty="0"/>
          </a:p>
        </p:txBody>
      </p:sp>
      <p:sp>
        <p:nvSpPr>
          <p:cNvPr id="21" name="Text 19"/>
          <p:cNvSpPr/>
          <p:nvPr/>
        </p:nvSpPr>
        <p:spPr>
          <a:xfrm>
            <a:off x="457200" y="6547104"/>
            <a:ext cx="9326880" cy="201168"/>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EON Reality   ·   Website suggestion   ·   October 2026</a:t>
            </a:r>
            <a:endParaRPr lang="en-US" sz="1100" dirty="0"/>
          </a:p>
        </p:txBody>
      </p:sp>
      <p:sp>
        <p:nvSpPr>
          <p:cNvPr id="22" name="Text 20"/>
          <p:cNvSpPr/>
          <p:nvPr/>
        </p:nvSpPr>
        <p:spPr>
          <a:xfrm>
            <a:off x="10241280" y="6547104"/>
            <a:ext cx="1463040" cy="201168"/>
          </a:xfrm>
          <a:prstGeom prst="rect">
            <a:avLst/>
          </a:prstGeom>
          <a:noFill/>
          <a:ln/>
        </p:spPr>
        <p:txBody>
          <a:bodyPr wrap="square" lIns="0" tIns="0" rIns="0" bIns="0" rtlCol="0" anchor="ctr"/>
          <a:lstStyle/>
          <a:p>
            <a:pPr algn="r" indent="0" marL="0">
              <a:buNone/>
            </a:pPr>
            <a:r>
              <a:rPr lang="en-US" sz="1100" dirty="0">
                <a:solidFill>
                  <a:srgbClr val="5C6B7A"/>
                </a:solidFill>
                <a:latin typeface="Calibri" pitchFamily="34" charset="0"/>
                <a:ea typeface="Calibri" pitchFamily="34" charset="-122"/>
                <a:cs typeface="Calibri" pitchFamily="34" charset="-120"/>
              </a:rPr>
              <a:t>4  /  14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F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3060"/>
          </a:solidFill>
          <a:ln/>
        </p:spPr>
      </p:sp>
      <p:sp>
        <p:nvSpPr>
          <p:cNvPr id="3" name="Shape 1"/>
          <p:cNvSpPr/>
          <p:nvPr/>
        </p:nvSpPr>
        <p:spPr>
          <a:xfrm>
            <a:off x="0" y="73152"/>
            <a:ext cx="12191695" cy="41148"/>
          </a:xfrm>
          <a:prstGeom prst="rect">
            <a:avLst/>
          </a:prstGeom>
          <a:solidFill>
            <a:srgbClr val="9A1F3D"/>
          </a:solidFill>
          <a:ln/>
        </p:spPr>
      </p:sp>
      <p:sp>
        <p:nvSpPr>
          <p:cNvPr id="4" name="Text 2"/>
          <p:cNvSpPr/>
          <p:nvPr/>
        </p:nvSpPr>
        <p:spPr>
          <a:xfrm>
            <a:off x="457200" y="256032"/>
            <a:ext cx="11247120" cy="237744"/>
          </a:xfrm>
          <a:prstGeom prst="rect">
            <a:avLst/>
          </a:prstGeom>
          <a:noFill/>
          <a:ln/>
        </p:spPr>
        <p:txBody>
          <a:bodyPr wrap="square" lIns="0" tIns="0" rIns="0" bIns="0" rtlCol="0" anchor="ctr"/>
          <a:lstStyle/>
          <a:p>
            <a:pPr indent="0" marL="0">
              <a:buNone/>
            </a:pPr>
            <a:r>
              <a:rPr lang="en-US" sz="1200" b="1" dirty="0">
                <a:solidFill>
                  <a:srgbClr val="9A1F3D"/>
                </a:solidFill>
                <a:latin typeface="Calibri" pitchFamily="34" charset="0"/>
                <a:ea typeface="Calibri" pitchFamily="34" charset="-122"/>
                <a:cs typeface="Calibri" pitchFamily="34" charset="-120"/>
              </a:rPr>
              <a:t>THE MENU</a:t>
            </a:r>
            <a:endParaRPr lang="en-US" sz="1200" dirty="0"/>
          </a:p>
        </p:txBody>
      </p:sp>
      <p:sp>
        <p:nvSpPr>
          <p:cNvPr id="5" name="Text 3"/>
          <p:cNvSpPr/>
          <p:nvPr/>
        </p:nvSpPr>
        <p:spPr>
          <a:xfrm>
            <a:off x="457200" y="475488"/>
            <a:ext cx="11247120" cy="420624"/>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Learn it. Train it. Perform it. Get the job and secure it.</a:t>
            </a:r>
            <a:endParaRPr lang="en-US" sz="2600" dirty="0"/>
          </a:p>
        </p:txBody>
      </p:sp>
      <p:sp>
        <p:nvSpPr>
          <p:cNvPr id="6" name="Shape 4"/>
          <p:cNvSpPr/>
          <p:nvPr/>
        </p:nvSpPr>
        <p:spPr>
          <a:xfrm>
            <a:off x="365760" y="1170432"/>
            <a:ext cx="2816352" cy="5120640"/>
          </a:xfrm>
          <a:prstGeom prst="roundRect">
            <a:avLst>
              <a:gd name="adj" fmla="val 2597"/>
            </a:avLst>
          </a:prstGeom>
          <a:solidFill>
            <a:srgbClr val="FFFFFF"/>
          </a:solidFill>
          <a:ln/>
          <a:effectLst>
            <a:outerShdw sx="100000" sy="100000" kx="0" ky="0" algn="bl" rotWithShape="0" blurRad="127000" dist="25400" dir="16200000">
              <a:srgbClr val="103060">
                <a:alpha val="8000"/>
              </a:srgbClr>
            </a:outerShdw>
          </a:effectLst>
        </p:spPr>
      </p:sp>
      <p:sp>
        <p:nvSpPr>
          <p:cNvPr id="7" name="Shape 5"/>
          <p:cNvSpPr/>
          <p:nvPr/>
        </p:nvSpPr>
        <p:spPr>
          <a:xfrm>
            <a:off x="365760" y="1170432"/>
            <a:ext cx="2816352" cy="530352"/>
          </a:xfrm>
          <a:prstGeom prst="rect">
            <a:avLst/>
          </a:prstGeom>
          <a:solidFill>
            <a:srgbClr val="103060"/>
          </a:solidFill>
          <a:ln/>
        </p:spPr>
      </p:sp>
      <p:sp>
        <p:nvSpPr>
          <p:cNvPr id="8" name="Text 6"/>
          <p:cNvSpPr/>
          <p:nvPr/>
        </p:nvSpPr>
        <p:spPr>
          <a:xfrm>
            <a:off x="365760" y="1261872"/>
            <a:ext cx="281635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LEARN</a:t>
            </a:r>
            <a:endParaRPr lang="en-US" sz="1400" dirty="0"/>
          </a:p>
        </p:txBody>
      </p:sp>
      <p:sp>
        <p:nvSpPr>
          <p:cNvPr id="9" name="Text 7"/>
          <p:cNvSpPr/>
          <p:nvPr/>
        </p:nvSpPr>
        <p:spPr>
          <a:xfrm>
            <a:off x="530352" y="1874520"/>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EON Universal</a:t>
            </a:r>
            <a:endParaRPr lang="en-US" sz="1400" dirty="0"/>
          </a:p>
        </p:txBody>
      </p:sp>
      <p:sp>
        <p:nvSpPr>
          <p:cNvPr id="10" name="Text 8"/>
          <p:cNvSpPr/>
          <p:nvPr/>
        </p:nvSpPr>
        <p:spPr>
          <a:xfrm>
            <a:off x="530352" y="2350008"/>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EON XR Infinite</a:t>
            </a:r>
            <a:endParaRPr lang="en-US" sz="1400" dirty="0"/>
          </a:p>
        </p:txBody>
      </p:sp>
      <p:sp>
        <p:nvSpPr>
          <p:cNvPr id="11" name="Text 9"/>
          <p:cNvSpPr/>
          <p:nvPr/>
        </p:nvSpPr>
        <p:spPr>
          <a:xfrm>
            <a:off x="530352" y="2825496"/>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EON Live</a:t>
            </a:r>
            <a:endParaRPr lang="en-US" sz="1400" dirty="0"/>
          </a:p>
        </p:txBody>
      </p:sp>
      <p:sp>
        <p:nvSpPr>
          <p:cNvPr id="12" name="Text 10"/>
          <p:cNvSpPr/>
          <p:nvPr/>
        </p:nvSpPr>
        <p:spPr>
          <a:xfrm>
            <a:off x="530352" y="3300984"/>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EON Tacit</a:t>
            </a:r>
            <a:endParaRPr lang="en-US" sz="1400" dirty="0"/>
          </a:p>
        </p:txBody>
      </p:sp>
      <p:sp>
        <p:nvSpPr>
          <p:cNvPr id="13" name="Shape 11"/>
          <p:cNvSpPr/>
          <p:nvPr/>
        </p:nvSpPr>
        <p:spPr>
          <a:xfrm>
            <a:off x="3310128" y="1170432"/>
            <a:ext cx="2816352" cy="5120640"/>
          </a:xfrm>
          <a:prstGeom prst="roundRect">
            <a:avLst>
              <a:gd name="adj" fmla="val 2597"/>
            </a:avLst>
          </a:prstGeom>
          <a:solidFill>
            <a:srgbClr val="FFFFFF"/>
          </a:solidFill>
          <a:ln/>
          <a:effectLst>
            <a:outerShdw sx="100000" sy="100000" kx="0" ky="0" algn="bl" rotWithShape="0" blurRad="127000" dist="25400" dir="16200000">
              <a:srgbClr val="103060">
                <a:alpha val="8000"/>
              </a:srgbClr>
            </a:outerShdw>
          </a:effectLst>
        </p:spPr>
      </p:sp>
      <p:sp>
        <p:nvSpPr>
          <p:cNvPr id="14" name="Shape 12"/>
          <p:cNvSpPr/>
          <p:nvPr/>
        </p:nvSpPr>
        <p:spPr>
          <a:xfrm>
            <a:off x="3310128" y="1170432"/>
            <a:ext cx="2816352" cy="530352"/>
          </a:xfrm>
          <a:prstGeom prst="rect">
            <a:avLst/>
          </a:prstGeom>
          <a:solidFill>
            <a:srgbClr val="103060"/>
          </a:solidFill>
          <a:ln/>
        </p:spPr>
      </p:sp>
      <p:sp>
        <p:nvSpPr>
          <p:cNvPr id="15" name="Text 13"/>
          <p:cNvSpPr/>
          <p:nvPr/>
        </p:nvSpPr>
        <p:spPr>
          <a:xfrm>
            <a:off x="3310128" y="1261872"/>
            <a:ext cx="281635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TRAIN</a:t>
            </a:r>
            <a:endParaRPr lang="en-US" sz="1400" dirty="0"/>
          </a:p>
        </p:txBody>
      </p:sp>
      <p:sp>
        <p:nvSpPr>
          <p:cNvPr id="16" name="Text 14"/>
          <p:cNvSpPr/>
          <p:nvPr/>
        </p:nvSpPr>
        <p:spPr>
          <a:xfrm>
            <a:off x="3474720" y="1874520"/>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Genesis 3</a:t>
            </a:r>
            <a:endParaRPr lang="en-US" sz="1400" dirty="0"/>
          </a:p>
        </p:txBody>
      </p:sp>
      <p:sp>
        <p:nvSpPr>
          <p:cNvPr id="17" name="Text 15"/>
          <p:cNvSpPr/>
          <p:nvPr/>
        </p:nvSpPr>
        <p:spPr>
          <a:xfrm>
            <a:off x="3474720" y="2350008"/>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EON Control Room</a:t>
            </a:r>
            <a:endParaRPr lang="en-US" sz="1400" dirty="0"/>
          </a:p>
        </p:txBody>
      </p:sp>
      <p:sp>
        <p:nvSpPr>
          <p:cNvPr id="18" name="Text 16"/>
          <p:cNvSpPr/>
          <p:nvPr/>
        </p:nvSpPr>
        <p:spPr>
          <a:xfrm>
            <a:off x="3474720" y="2825496"/>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Situation Room</a:t>
            </a:r>
            <a:endParaRPr lang="en-US" sz="1400" dirty="0"/>
          </a:p>
        </p:txBody>
      </p:sp>
      <p:sp>
        <p:nvSpPr>
          <p:cNvPr id="19" name="Text 17"/>
          <p:cNvSpPr/>
          <p:nvPr/>
        </p:nvSpPr>
        <p:spPr>
          <a:xfrm>
            <a:off x="3474720" y="3300984"/>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Situation Room Creator</a:t>
            </a:r>
            <a:endParaRPr lang="en-US" sz="1400" dirty="0"/>
          </a:p>
        </p:txBody>
      </p:sp>
      <p:sp>
        <p:nvSpPr>
          <p:cNvPr id="20" name="Text 18"/>
          <p:cNvSpPr/>
          <p:nvPr/>
        </p:nvSpPr>
        <p:spPr>
          <a:xfrm>
            <a:off x="3474720" y="3776472"/>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Brainy Soft Skills</a:t>
            </a:r>
            <a:endParaRPr lang="en-US" sz="1400" dirty="0"/>
          </a:p>
        </p:txBody>
      </p:sp>
      <p:sp>
        <p:nvSpPr>
          <p:cNvPr id="21" name="Shape 19"/>
          <p:cNvSpPr/>
          <p:nvPr/>
        </p:nvSpPr>
        <p:spPr>
          <a:xfrm>
            <a:off x="6254496" y="1170432"/>
            <a:ext cx="2816352" cy="5120640"/>
          </a:xfrm>
          <a:prstGeom prst="roundRect">
            <a:avLst>
              <a:gd name="adj" fmla="val 2597"/>
            </a:avLst>
          </a:prstGeom>
          <a:solidFill>
            <a:srgbClr val="FFFFFF"/>
          </a:solidFill>
          <a:ln/>
          <a:effectLst>
            <a:outerShdw sx="100000" sy="100000" kx="0" ky="0" algn="bl" rotWithShape="0" blurRad="127000" dist="25400" dir="16200000">
              <a:srgbClr val="103060">
                <a:alpha val="8000"/>
              </a:srgbClr>
            </a:outerShdw>
          </a:effectLst>
        </p:spPr>
      </p:sp>
      <p:sp>
        <p:nvSpPr>
          <p:cNvPr id="22" name="Shape 20"/>
          <p:cNvSpPr/>
          <p:nvPr/>
        </p:nvSpPr>
        <p:spPr>
          <a:xfrm>
            <a:off x="6254496" y="1170432"/>
            <a:ext cx="2816352" cy="530352"/>
          </a:xfrm>
          <a:prstGeom prst="rect">
            <a:avLst/>
          </a:prstGeom>
          <a:solidFill>
            <a:srgbClr val="9A1F3D"/>
          </a:solidFill>
          <a:ln/>
        </p:spPr>
      </p:sp>
      <p:sp>
        <p:nvSpPr>
          <p:cNvPr id="23" name="Text 21"/>
          <p:cNvSpPr/>
          <p:nvPr/>
        </p:nvSpPr>
        <p:spPr>
          <a:xfrm>
            <a:off x="6254496" y="1261872"/>
            <a:ext cx="281635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PERFORM</a:t>
            </a:r>
            <a:endParaRPr lang="en-US" sz="1400" dirty="0"/>
          </a:p>
        </p:txBody>
      </p:sp>
      <p:sp>
        <p:nvSpPr>
          <p:cNvPr id="24" name="Text 22"/>
          <p:cNvSpPr/>
          <p:nvPr/>
        </p:nvSpPr>
        <p:spPr>
          <a:xfrm>
            <a:off x="6419088" y="1874520"/>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Permit IQ</a:t>
            </a:r>
            <a:endParaRPr lang="en-US" sz="1400" dirty="0"/>
          </a:p>
        </p:txBody>
      </p:sp>
      <p:sp>
        <p:nvSpPr>
          <p:cNvPr id="25" name="Text 23"/>
          <p:cNvSpPr/>
          <p:nvPr/>
        </p:nvSpPr>
        <p:spPr>
          <a:xfrm>
            <a:off x="6419088" y="2350008"/>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Field IQ</a:t>
            </a:r>
            <a:endParaRPr lang="en-US" sz="1400" dirty="0"/>
          </a:p>
        </p:txBody>
      </p:sp>
      <p:sp>
        <p:nvSpPr>
          <p:cNvPr id="26" name="Text 24"/>
          <p:cNvSpPr/>
          <p:nvPr/>
        </p:nvSpPr>
        <p:spPr>
          <a:xfrm>
            <a:off x="6419088" y="2825496"/>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Field IQ Edge</a:t>
            </a:r>
            <a:endParaRPr lang="en-US" sz="1400" dirty="0"/>
          </a:p>
        </p:txBody>
      </p:sp>
      <p:sp>
        <p:nvSpPr>
          <p:cNvPr id="27" name="Text 25"/>
          <p:cNvSpPr/>
          <p:nvPr/>
        </p:nvSpPr>
        <p:spPr>
          <a:xfrm>
            <a:off x="6419088" y="3300984"/>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Assess IQ</a:t>
            </a:r>
            <a:endParaRPr lang="en-US" sz="1400" dirty="0"/>
          </a:p>
        </p:txBody>
      </p:sp>
      <p:sp>
        <p:nvSpPr>
          <p:cNvPr id="28" name="Text 26"/>
          <p:cNvSpPr/>
          <p:nvPr/>
        </p:nvSpPr>
        <p:spPr>
          <a:xfrm>
            <a:off x="6419088" y="3776472"/>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Compound IQ</a:t>
            </a:r>
            <a:endParaRPr lang="en-US" sz="1400" dirty="0"/>
          </a:p>
        </p:txBody>
      </p:sp>
      <p:sp>
        <p:nvSpPr>
          <p:cNvPr id="29" name="Text 27"/>
          <p:cNvSpPr/>
          <p:nvPr/>
        </p:nvSpPr>
        <p:spPr>
          <a:xfrm>
            <a:off x="6419088" y="4251960"/>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The Distillery</a:t>
            </a:r>
            <a:endParaRPr lang="en-US" sz="1400" dirty="0"/>
          </a:p>
        </p:txBody>
      </p:sp>
      <p:sp>
        <p:nvSpPr>
          <p:cNvPr id="30" name="Text 28"/>
          <p:cNvSpPr/>
          <p:nvPr/>
        </p:nvSpPr>
        <p:spPr>
          <a:xfrm>
            <a:off x="6419088" y="4727448"/>
            <a:ext cx="2487168" cy="384048"/>
          </a:xfrm>
          <a:prstGeom prst="rect">
            <a:avLst/>
          </a:prstGeom>
          <a:noFill/>
          <a:ln/>
        </p:spPr>
        <p:txBody>
          <a:bodyPr wrap="square" lIns="0" tIns="0" rIns="0" bIns="0" rtlCol="0" anchor="ctr"/>
          <a:lstStyle/>
          <a:p>
            <a:pPr indent="0" marL="0">
              <a:buNone/>
            </a:pPr>
            <a:r>
              <a:rPr lang="en-US" sz="1300" b="1" dirty="0">
                <a:solidFill>
                  <a:srgbClr val="9A1F3D"/>
                </a:solidFill>
                <a:latin typeface="Calibri" pitchFamily="34" charset="0"/>
                <a:ea typeface="Calibri" pitchFamily="34" charset="-122"/>
                <a:cs typeface="Calibri" pitchFamily="34" charset="-120"/>
              </a:rPr>
              <a:t>Competence IQ</a:t>
            </a:r>
            <a:endParaRPr lang="en-US" sz="1300" dirty="0"/>
          </a:p>
        </p:txBody>
      </p:sp>
      <p:sp>
        <p:nvSpPr>
          <p:cNvPr id="31" name="Text 29"/>
          <p:cNvSpPr/>
          <p:nvPr/>
        </p:nvSpPr>
        <p:spPr>
          <a:xfrm>
            <a:off x="6419088" y="5202936"/>
            <a:ext cx="2487168" cy="384048"/>
          </a:xfrm>
          <a:prstGeom prst="rect">
            <a:avLst/>
          </a:prstGeom>
          <a:noFill/>
          <a:ln/>
        </p:spPr>
        <p:txBody>
          <a:bodyPr wrap="square" lIns="0" tIns="0" rIns="0" bIns="0" rtlCol="0" anchor="ctr"/>
          <a:lstStyle/>
          <a:p>
            <a:pPr indent="0" marL="0">
              <a:buNone/>
            </a:pPr>
            <a:r>
              <a:rPr lang="en-US" sz="1300" b="1" dirty="0">
                <a:solidFill>
                  <a:srgbClr val="9A1F3D"/>
                </a:solidFill>
                <a:latin typeface="Calibri" pitchFamily="34" charset="0"/>
                <a:ea typeface="Calibri" pitchFamily="34" charset="-122"/>
                <a:cs typeface="Calibri" pitchFamily="34" charset="-120"/>
              </a:rPr>
              <a:t>EON Control</a:t>
            </a:r>
            <a:endParaRPr lang="en-US" sz="1300" dirty="0"/>
          </a:p>
        </p:txBody>
      </p:sp>
      <p:sp>
        <p:nvSpPr>
          <p:cNvPr id="32" name="Shape 30"/>
          <p:cNvSpPr/>
          <p:nvPr/>
        </p:nvSpPr>
        <p:spPr>
          <a:xfrm>
            <a:off x="9198864" y="1170432"/>
            <a:ext cx="2816352" cy="5120640"/>
          </a:xfrm>
          <a:prstGeom prst="roundRect">
            <a:avLst>
              <a:gd name="adj" fmla="val 2597"/>
            </a:avLst>
          </a:prstGeom>
          <a:solidFill>
            <a:srgbClr val="FFFFFF"/>
          </a:solidFill>
          <a:ln/>
          <a:effectLst>
            <a:outerShdw sx="100000" sy="100000" kx="0" ky="0" algn="bl" rotWithShape="0" blurRad="127000" dist="25400" dir="16200000">
              <a:srgbClr val="103060">
                <a:alpha val="8000"/>
              </a:srgbClr>
            </a:outerShdw>
          </a:effectLst>
        </p:spPr>
      </p:sp>
      <p:sp>
        <p:nvSpPr>
          <p:cNvPr id="33" name="Shape 31"/>
          <p:cNvSpPr/>
          <p:nvPr/>
        </p:nvSpPr>
        <p:spPr>
          <a:xfrm>
            <a:off x="9198864" y="1170432"/>
            <a:ext cx="2816352" cy="530352"/>
          </a:xfrm>
          <a:prstGeom prst="rect">
            <a:avLst/>
          </a:prstGeom>
          <a:solidFill>
            <a:srgbClr val="9A1F3D"/>
          </a:solidFill>
          <a:ln/>
        </p:spPr>
      </p:sp>
      <p:sp>
        <p:nvSpPr>
          <p:cNvPr id="34" name="Text 32"/>
          <p:cNvSpPr/>
          <p:nvPr/>
        </p:nvSpPr>
        <p:spPr>
          <a:xfrm>
            <a:off x="9198864" y="1261872"/>
            <a:ext cx="281635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OUTCOMES</a:t>
            </a:r>
            <a:endParaRPr lang="en-US" sz="1400" dirty="0"/>
          </a:p>
        </p:txBody>
      </p:sp>
      <p:sp>
        <p:nvSpPr>
          <p:cNvPr id="35" name="Text 33"/>
          <p:cNvSpPr/>
          <p:nvPr/>
        </p:nvSpPr>
        <p:spPr>
          <a:xfrm>
            <a:off x="9363456" y="1874520"/>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Career Compass</a:t>
            </a:r>
            <a:endParaRPr lang="en-US" sz="1400" dirty="0"/>
          </a:p>
        </p:txBody>
      </p:sp>
      <p:sp>
        <p:nvSpPr>
          <p:cNvPr id="36" name="Text 34"/>
          <p:cNvSpPr/>
          <p:nvPr/>
        </p:nvSpPr>
        <p:spPr>
          <a:xfrm>
            <a:off x="9363456" y="2350008"/>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Venture Builder</a:t>
            </a:r>
            <a:endParaRPr lang="en-US" sz="1400" dirty="0"/>
          </a:p>
        </p:txBody>
      </p:sp>
      <p:sp>
        <p:nvSpPr>
          <p:cNvPr id="37" name="Text 35"/>
          <p:cNvSpPr/>
          <p:nvPr/>
        </p:nvSpPr>
        <p:spPr>
          <a:xfrm>
            <a:off x="9363456" y="2825496"/>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AI Fluency</a:t>
            </a:r>
            <a:endParaRPr lang="en-US" sz="1400" dirty="0"/>
          </a:p>
        </p:txBody>
      </p:sp>
      <p:sp>
        <p:nvSpPr>
          <p:cNvPr id="38" name="Text 36"/>
          <p:cNvSpPr/>
          <p:nvPr/>
        </p:nvSpPr>
        <p:spPr>
          <a:xfrm>
            <a:off x="9363456" y="3300984"/>
            <a:ext cx="2487168" cy="384048"/>
          </a:xfrm>
          <a:prstGeom prst="rect">
            <a:avLst/>
          </a:prstGeom>
          <a:noFill/>
          <a:ln/>
        </p:spPr>
        <p:txBody>
          <a:bodyPr wrap="square" lIns="0" tIns="0" rIns="0" bIns="0" rtlCol="0" anchor="ctr"/>
          <a:lstStyle/>
          <a:p>
            <a:pPr indent="0" marL="0">
              <a:buNone/>
            </a:pPr>
            <a:r>
              <a:rPr lang="en-US" sz="1400" dirty="0">
                <a:solidFill>
                  <a:srgbClr val="142033"/>
                </a:solidFill>
                <a:latin typeface="Calibri" pitchFamily="34" charset="0"/>
                <a:ea typeface="Calibri" pitchFamily="34" charset="-122"/>
                <a:cs typeface="Calibri" pitchFamily="34" charset="-120"/>
              </a:rPr>
              <a:t>Sentient Worlds</a:t>
            </a:r>
            <a:endParaRPr lang="en-US" sz="1400" dirty="0"/>
          </a:p>
        </p:txBody>
      </p:sp>
      <p:sp>
        <p:nvSpPr>
          <p:cNvPr id="39" name="Text 37"/>
          <p:cNvSpPr/>
          <p:nvPr/>
        </p:nvSpPr>
        <p:spPr>
          <a:xfrm>
            <a:off x="457200" y="6547104"/>
            <a:ext cx="9326880" cy="201168"/>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EON Reality   ·   Website suggestion   ·   October 2026</a:t>
            </a:r>
            <a:endParaRPr lang="en-US" sz="1100" dirty="0"/>
          </a:p>
        </p:txBody>
      </p:sp>
      <p:sp>
        <p:nvSpPr>
          <p:cNvPr id="40" name="Text 38"/>
          <p:cNvSpPr/>
          <p:nvPr/>
        </p:nvSpPr>
        <p:spPr>
          <a:xfrm>
            <a:off x="10241280" y="6547104"/>
            <a:ext cx="1463040" cy="201168"/>
          </a:xfrm>
          <a:prstGeom prst="rect">
            <a:avLst/>
          </a:prstGeom>
          <a:noFill/>
          <a:ln/>
        </p:spPr>
        <p:txBody>
          <a:bodyPr wrap="square" lIns="0" tIns="0" rIns="0" bIns="0" rtlCol="0" anchor="ctr"/>
          <a:lstStyle/>
          <a:p>
            <a:pPr algn="r" indent="0" marL="0">
              <a:buNone/>
            </a:pPr>
            <a:r>
              <a:rPr lang="en-US" sz="1100" dirty="0">
                <a:solidFill>
                  <a:srgbClr val="5C6B7A"/>
                </a:solidFill>
                <a:latin typeface="Calibri" pitchFamily="34" charset="0"/>
                <a:ea typeface="Calibri" pitchFamily="34" charset="-122"/>
                <a:cs typeface="Calibri" pitchFamily="34" charset="-120"/>
              </a:rPr>
              <a:t>5  /  14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F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3060"/>
          </a:solidFill>
          <a:ln/>
        </p:spPr>
      </p:sp>
      <p:sp>
        <p:nvSpPr>
          <p:cNvPr id="3" name="Shape 1"/>
          <p:cNvSpPr/>
          <p:nvPr/>
        </p:nvSpPr>
        <p:spPr>
          <a:xfrm>
            <a:off x="0" y="73152"/>
            <a:ext cx="12191695" cy="41148"/>
          </a:xfrm>
          <a:prstGeom prst="rect">
            <a:avLst/>
          </a:prstGeom>
          <a:solidFill>
            <a:srgbClr val="9A1F3D"/>
          </a:solidFill>
          <a:ln/>
        </p:spPr>
      </p:sp>
      <p:sp>
        <p:nvSpPr>
          <p:cNvPr id="4" name="Text 2"/>
          <p:cNvSpPr/>
          <p:nvPr/>
        </p:nvSpPr>
        <p:spPr>
          <a:xfrm>
            <a:off x="457200" y="256032"/>
            <a:ext cx="11247120" cy="237744"/>
          </a:xfrm>
          <a:prstGeom prst="rect">
            <a:avLst/>
          </a:prstGeom>
          <a:noFill/>
          <a:ln/>
        </p:spPr>
        <p:txBody>
          <a:bodyPr wrap="square" lIns="0" tIns="0" rIns="0" bIns="0" rtlCol="0" anchor="ctr"/>
          <a:lstStyle/>
          <a:p>
            <a:pPr indent="0" marL="0">
              <a:buNone/>
            </a:pPr>
            <a:r>
              <a:rPr lang="en-US" sz="1200" b="1" dirty="0">
                <a:solidFill>
                  <a:srgbClr val="9A1F3D"/>
                </a:solidFill>
                <a:latin typeface="Calibri" pitchFamily="34" charset="0"/>
                <a:ea typeface="Calibri" pitchFamily="34" charset="-122"/>
                <a:cs typeface="Calibri" pitchFamily="34" charset="-120"/>
              </a:rPr>
              <a:t>HOW A CLICK WORKS</a:t>
            </a:r>
            <a:endParaRPr lang="en-US" sz="1200" dirty="0"/>
          </a:p>
        </p:txBody>
      </p:sp>
      <p:sp>
        <p:nvSpPr>
          <p:cNvPr id="5" name="Text 3"/>
          <p:cNvSpPr/>
          <p:nvPr/>
        </p:nvSpPr>
        <p:spPr>
          <a:xfrm>
            <a:off x="457200" y="475488"/>
            <a:ext cx="11247120" cy="420624"/>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The short card opens the long story.</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170432"/>
          <a:ext cx="11338560" cy="3977640"/>
        </p:xfrm>
        <a:graphic>
          <a:graphicData uri="http://schemas.openxmlformats.org/drawingml/2006/table">
            <a:tbl>
              <a:tblPr/>
              <a:tblGrid>
                <a:gridCol w="3017520"/>
                <a:gridCol w="8321040"/>
              </a:tblGrid>
              <a:tr h="568234">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From</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103060"/>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Opens</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103060"/>
                    </a:solidFill>
                  </a:tcPr>
                </a:tc>
              </a:tr>
              <a:tr h="568234">
                <a:tc>
                  <a:txBody>
                    <a:bodyPr/>
                    <a:lstStyle/>
                    <a:p>
                      <a:pPr algn="l" indent="0" marL="0">
                        <a:buNone/>
                      </a:pPr>
                      <a:r>
                        <a:rPr lang="en-US" sz="1400" dirty="0">
                          <a:solidFill>
                            <a:srgbClr val="142033"/>
                          </a:solidFill>
                          <a:latin typeface="Calibri" pitchFamily="34" charset="0"/>
                          <a:ea typeface="Calibri" pitchFamily="34" charset="-122"/>
                          <a:cs typeface="Calibri" pitchFamily="34" charset="-120"/>
                        </a:rPr>
                        <a:t>Learn, Train, Perform</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033"/>
                          </a:solidFill>
                          <a:latin typeface="Calibri" pitchFamily="34" charset="0"/>
                          <a:ea typeface="Calibri" pitchFamily="34" charset="-122"/>
                          <a:cs typeface="Calibri" pitchFamily="34" charset="-120"/>
                        </a:rPr>
                        <a:t>The matching product story on the long platform, at the story.</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FFFFFF"/>
                    </a:solidFill>
                  </a:tcPr>
                </a:tc>
              </a:tr>
              <a:tr h="568234">
                <a:tc>
                  <a:txBody>
                    <a:bodyPr/>
                    <a:lstStyle/>
                    <a:p>
                      <a:pPr algn="l" indent="0" marL="0">
                        <a:buNone/>
                      </a:pPr>
                      <a:r>
                        <a:rPr lang="en-US" sz="1400" dirty="0">
                          <a:solidFill>
                            <a:srgbClr val="142033"/>
                          </a:solidFill>
                          <a:latin typeface="Calibri" pitchFamily="34" charset="0"/>
                          <a:ea typeface="Calibri" pitchFamily="34" charset="-122"/>
                          <a:cs typeface="Calibri" pitchFamily="34" charset="-120"/>
                        </a:rPr>
                        <a:t>Career Compass</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FBF6F7"/>
                    </a:solidFill>
                  </a:tcPr>
                </a:tc>
                <a:tc>
                  <a:txBody>
                    <a:bodyPr/>
                    <a:lstStyle/>
                    <a:p>
                      <a:pPr algn="l" indent="0" marL="0">
                        <a:buNone/>
                      </a:pPr>
                      <a:r>
                        <a:rPr lang="en-US" sz="1400" dirty="0">
                          <a:solidFill>
                            <a:srgbClr val="142033"/>
                          </a:solidFill>
                          <a:latin typeface="Calibri" pitchFamily="34" charset="0"/>
                          <a:ea typeface="Calibri" pitchFamily="34" charset="-122"/>
                          <a:cs typeface="Calibri" pitchFamily="34" charset="-120"/>
                        </a:rPr>
                        <a:t>eonreality.com/eon-career-compass/</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FBF6F7"/>
                    </a:solidFill>
                  </a:tcPr>
                </a:tc>
              </a:tr>
              <a:tr h="568234">
                <a:tc>
                  <a:txBody>
                    <a:bodyPr/>
                    <a:lstStyle/>
                    <a:p>
                      <a:pPr algn="l" indent="0" marL="0">
                        <a:buNone/>
                      </a:pPr>
                      <a:r>
                        <a:rPr lang="en-US" sz="1400" dirty="0">
                          <a:solidFill>
                            <a:srgbClr val="142033"/>
                          </a:solidFill>
                          <a:latin typeface="Calibri" pitchFamily="34" charset="0"/>
                          <a:ea typeface="Calibri" pitchFamily="34" charset="-122"/>
                          <a:cs typeface="Calibri" pitchFamily="34" charset="-120"/>
                        </a:rPr>
                        <a:t>Venture Builder</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033"/>
                          </a:solidFill>
                          <a:latin typeface="Calibri" pitchFamily="34" charset="0"/>
                          <a:ea typeface="Calibri" pitchFamily="34" charset="-122"/>
                          <a:cs typeface="Calibri" pitchFamily="34" charset="-120"/>
                        </a:rPr>
                        <a:t>eonreality.com/eon-venture-builder/</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FFFFFF"/>
                    </a:solidFill>
                  </a:tcPr>
                </a:tc>
              </a:tr>
              <a:tr h="568234">
                <a:tc>
                  <a:txBody>
                    <a:bodyPr/>
                    <a:lstStyle/>
                    <a:p>
                      <a:pPr algn="l" indent="0" marL="0">
                        <a:buNone/>
                      </a:pPr>
                      <a:r>
                        <a:rPr lang="en-US" sz="1400" dirty="0">
                          <a:solidFill>
                            <a:srgbClr val="142033"/>
                          </a:solidFill>
                          <a:latin typeface="Calibri" pitchFamily="34" charset="0"/>
                          <a:ea typeface="Calibri" pitchFamily="34" charset="-122"/>
                          <a:cs typeface="Calibri" pitchFamily="34" charset="-120"/>
                        </a:rPr>
                        <a:t>AI Fluency</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FBF6F7"/>
                    </a:solidFill>
                  </a:tcPr>
                </a:tc>
                <a:tc>
                  <a:txBody>
                    <a:bodyPr/>
                    <a:lstStyle/>
                    <a:p>
                      <a:pPr algn="l" indent="0" marL="0">
                        <a:buNone/>
                      </a:pPr>
                      <a:r>
                        <a:rPr lang="en-US" sz="1400" dirty="0">
                          <a:solidFill>
                            <a:srgbClr val="142033"/>
                          </a:solidFill>
                          <a:latin typeface="Calibri" pitchFamily="34" charset="0"/>
                          <a:ea typeface="Calibri" pitchFamily="34" charset="-122"/>
                          <a:cs typeface="Calibri" pitchFamily="34" charset="-120"/>
                        </a:rPr>
                        <a:t>eonglobalcampus.com/ai-fluency</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FBF6F7"/>
                    </a:solidFill>
                  </a:tcPr>
                </a:tc>
              </a:tr>
              <a:tr h="568234">
                <a:tc>
                  <a:txBody>
                    <a:bodyPr/>
                    <a:lstStyle/>
                    <a:p>
                      <a:pPr algn="l" indent="0" marL="0">
                        <a:buNone/>
                      </a:pPr>
                      <a:r>
                        <a:rPr lang="en-US" sz="1400" dirty="0">
                          <a:solidFill>
                            <a:srgbClr val="142033"/>
                          </a:solidFill>
                          <a:latin typeface="Calibri" pitchFamily="34" charset="0"/>
                          <a:ea typeface="Calibri" pitchFamily="34" charset="-122"/>
                          <a:cs typeface="Calibri" pitchFamily="34" charset="-120"/>
                        </a:rPr>
                        <a:t>Sentient Worlds</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033"/>
                          </a:solidFill>
                          <a:latin typeface="Calibri" pitchFamily="34" charset="0"/>
                          <a:ea typeface="Calibri" pitchFamily="34" charset="-122"/>
                          <a:cs typeface="Calibri" pitchFamily="34" charset="-120"/>
                        </a:rPr>
                        <a:t>eonreality.com/eon-sentient-worlds/</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FFFFFF"/>
                    </a:solidFill>
                  </a:tcPr>
                </a:tc>
              </a:tr>
              <a:tr h="568234">
                <a:tc>
                  <a:txBody>
                    <a:bodyPr/>
                    <a:lstStyle/>
                    <a:p>
                      <a:pPr algn="l" indent="0" marL="0">
                        <a:buNone/>
                      </a:pPr>
                      <a:r>
                        <a:rPr lang="en-US" sz="1400" dirty="0">
                          <a:solidFill>
                            <a:srgbClr val="142033"/>
                          </a:solidFill>
                          <a:latin typeface="Calibri" pitchFamily="34" charset="0"/>
                          <a:ea typeface="Calibri" pitchFamily="34" charset="-122"/>
                          <a:cs typeface="Calibri" pitchFamily="34" charset="-120"/>
                        </a:rPr>
                        <a:t>Footer</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FBF6F7"/>
                    </a:solidFill>
                  </a:tcPr>
                </a:tc>
                <a:tc>
                  <a:txBody>
                    <a:bodyPr/>
                    <a:lstStyle/>
                    <a:p>
                      <a:pPr algn="l" indent="0" marL="0">
                        <a:buNone/>
                      </a:pPr>
                      <a:r>
                        <a:rPr lang="en-US" sz="1400" dirty="0">
                          <a:solidFill>
                            <a:srgbClr val="142033"/>
                          </a:solidFill>
                          <a:latin typeface="Calibri" pitchFamily="34" charset="0"/>
                          <a:ea typeface="Calibri" pitchFamily="34" charset="-122"/>
                          <a:cs typeface="Calibri" pitchFamily="34" charset="-120"/>
                        </a:rPr>
                        <a:t>The platform, and Global Virtual Campus.</a:t>
                      </a:r>
                      <a:endParaRPr lang="en-US" sz="1400" dirty="0">
                        <a:latin typeface="Calibri" charset="0"/>
                        <a:ea typeface="Calibri" charset="0"/>
                        <a:cs typeface="Calibri" charset="0"/>
                      </a:endParaRPr>
                    </a:p>
                  </a:txBody>
                  <a:tcPr marL="91440" marR="91440" marT="45720" marB="45720" anchor="ctr">
                    <a:lnL w="6350" cap="flat" cmpd="sng" algn="ctr">
                      <a:solidFill>
                        <a:srgbClr val="EADFE3"/>
                      </a:solidFill>
                      <a:prstDash val="solid"/>
                      <a:round/>
                      <a:headEnd type="none" w="med" len="med"/>
                      <a:tailEnd type="none" w="med" len="med"/>
                    </a:lnL>
                    <a:lnR w="6350" cap="flat" cmpd="sng" algn="ctr">
                      <a:solidFill>
                        <a:srgbClr val="EADFE3"/>
                      </a:solidFill>
                      <a:prstDash val="solid"/>
                      <a:round/>
                      <a:headEnd type="none" w="med" len="med"/>
                      <a:tailEnd type="none" w="med" len="med"/>
                    </a:lnR>
                    <a:lnT w="6350" cap="flat" cmpd="sng" algn="ctr">
                      <a:solidFill>
                        <a:srgbClr val="EADFE3"/>
                      </a:solidFill>
                      <a:prstDash val="solid"/>
                      <a:round/>
                      <a:headEnd type="none" w="med" len="med"/>
                      <a:tailEnd type="none" w="med" len="med"/>
                    </a:lnT>
                    <a:lnB w="6350" cap="flat" cmpd="sng" algn="ctr">
                      <a:solidFill>
                        <a:srgbClr val="EADFE3"/>
                      </a:solidFill>
                      <a:prstDash val="solid"/>
                      <a:round/>
                      <a:headEnd type="none" w="med" len="med"/>
                      <a:tailEnd type="none" w="med" len="med"/>
                    </a:lnB>
                    <a:solidFill>
                      <a:srgbClr val="FBF6F7"/>
                    </a:solidFill>
                  </a:tcPr>
                </a:tc>
              </a:tr>
            </a:tbl>
          </a:graphicData>
        </a:graphic>
      </p:graphicFrame>
      <p:sp>
        <p:nvSpPr>
          <p:cNvPr id="7" name="Text 4"/>
          <p:cNvSpPr/>
          <p:nvPr/>
        </p:nvSpPr>
        <p:spPr>
          <a:xfrm>
            <a:off x="411480" y="5349240"/>
            <a:ext cx="11338560" cy="960120"/>
          </a:xfrm>
          <a:prstGeom prst="rect">
            <a:avLst/>
          </a:prstGeom>
          <a:noFill/>
          <a:ln/>
        </p:spPr>
        <p:txBody>
          <a:bodyPr wrap="square" lIns="0" tIns="0" rIns="0" bIns="0" rtlCol="0" anchor="ctr"/>
          <a:lstStyle/>
          <a:p>
            <a:pPr indent="0" marL="0">
              <a:buNone/>
            </a:pPr>
            <a:r>
              <a:rPr lang="en-US" sz="1400" dirty="0">
                <a:solidFill>
                  <a:srgbClr val="5C6B7A"/>
                </a:solidFill>
                <a:latin typeface="Calibri" pitchFamily="34" charset="0"/>
                <a:ea typeface="Calibri" pitchFamily="34" charset="-122"/>
                <a:cs typeface="Calibri" pitchFamily="34" charset="-120"/>
              </a:rPr>
              <a:t>Cards do not open Replit, TestFlight, Render, Drive, or the campus homepage. Career Compass and Venture Builder have no campus address of their own, so they stay on the published Reality pages until those stories exist on the long platform.</a:t>
            </a:r>
            <a:endParaRPr lang="en-US" sz="1400" dirty="0"/>
          </a:p>
        </p:txBody>
      </p:sp>
      <p:sp>
        <p:nvSpPr>
          <p:cNvPr id="8" name="Text 5"/>
          <p:cNvSpPr/>
          <p:nvPr/>
        </p:nvSpPr>
        <p:spPr>
          <a:xfrm>
            <a:off x="457200" y="6547104"/>
            <a:ext cx="9326880" cy="201168"/>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EON Reality   ·   Website suggestion   ·   October 2026</a:t>
            </a:r>
            <a:endParaRPr lang="en-US" sz="1100" dirty="0"/>
          </a:p>
        </p:txBody>
      </p:sp>
      <p:sp>
        <p:nvSpPr>
          <p:cNvPr id="9" name="Text 6"/>
          <p:cNvSpPr/>
          <p:nvPr/>
        </p:nvSpPr>
        <p:spPr>
          <a:xfrm>
            <a:off x="10241280" y="6547104"/>
            <a:ext cx="1463040" cy="201168"/>
          </a:xfrm>
          <a:prstGeom prst="rect">
            <a:avLst/>
          </a:prstGeom>
          <a:noFill/>
          <a:ln/>
        </p:spPr>
        <p:txBody>
          <a:bodyPr wrap="square" lIns="0" tIns="0" rIns="0" bIns="0" rtlCol="0" anchor="ctr"/>
          <a:lstStyle/>
          <a:p>
            <a:pPr algn="r" indent="0" marL="0">
              <a:buNone/>
            </a:pPr>
            <a:r>
              <a:rPr lang="en-US" sz="1100" dirty="0">
                <a:solidFill>
                  <a:srgbClr val="5C6B7A"/>
                </a:solidFill>
                <a:latin typeface="Calibri" pitchFamily="34" charset="0"/>
                <a:ea typeface="Calibri" pitchFamily="34" charset="-122"/>
                <a:cs typeface="Calibri" pitchFamily="34" charset="-120"/>
              </a:rPr>
              <a:t>6  /  14</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F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3060"/>
          </a:solidFill>
          <a:ln/>
        </p:spPr>
      </p:sp>
      <p:sp>
        <p:nvSpPr>
          <p:cNvPr id="3" name="Shape 1"/>
          <p:cNvSpPr/>
          <p:nvPr/>
        </p:nvSpPr>
        <p:spPr>
          <a:xfrm>
            <a:off x="0" y="73152"/>
            <a:ext cx="12191695" cy="41148"/>
          </a:xfrm>
          <a:prstGeom prst="rect">
            <a:avLst/>
          </a:prstGeom>
          <a:solidFill>
            <a:srgbClr val="9A1F3D"/>
          </a:solidFill>
          <a:ln/>
        </p:spPr>
      </p:sp>
      <p:sp>
        <p:nvSpPr>
          <p:cNvPr id="4" name="Text 2"/>
          <p:cNvSpPr/>
          <p:nvPr/>
        </p:nvSpPr>
        <p:spPr>
          <a:xfrm>
            <a:off x="457200" y="256032"/>
            <a:ext cx="11247120" cy="237744"/>
          </a:xfrm>
          <a:prstGeom prst="rect">
            <a:avLst/>
          </a:prstGeom>
          <a:noFill/>
          <a:ln/>
        </p:spPr>
        <p:txBody>
          <a:bodyPr wrap="square" lIns="0" tIns="0" rIns="0" bIns="0" rtlCol="0" anchor="ctr"/>
          <a:lstStyle/>
          <a:p>
            <a:pPr indent="0" marL="0">
              <a:buNone/>
            </a:pPr>
            <a:r>
              <a:rPr lang="en-US" sz="1200" b="1" dirty="0">
                <a:solidFill>
                  <a:srgbClr val="9A1F3D"/>
                </a:solidFill>
                <a:latin typeface="Calibri" pitchFamily="34" charset="0"/>
                <a:ea typeface="Calibri" pitchFamily="34" charset="-122"/>
                <a:cs typeface="Calibri" pitchFamily="34" charset="-120"/>
              </a:rPr>
              <a:t>KEEP</a:t>
            </a:r>
            <a:endParaRPr lang="en-US" sz="1200" dirty="0"/>
          </a:p>
        </p:txBody>
      </p:sp>
      <p:sp>
        <p:nvSpPr>
          <p:cNvPr id="5" name="Text 3"/>
          <p:cNvSpPr/>
          <p:nvPr/>
        </p:nvSpPr>
        <p:spPr>
          <a:xfrm>
            <a:off x="457200" y="475488"/>
            <a:ext cx="11247120" cy="420624"/>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What stays in the new website</a:t>
            </a:r>
            <a:endParaRPr lang="en-US" sz="2600" dirty="0"/>
          </a:p>
        </p:txBody>
      </p:sp>
      <p:sp>
        <p:nvSpPr>
          <p:cNvPr id="6" name="Shape 4"/>
          <p:cNvSpPr/>
          <p:nvPr/>
        </p:nvSpPr>
        <p:spPr>
          <a:xfrm>
            <a:off x="411480" y="1170432"/>
            <a:ext cx="5577840" cy="5120640"/>
          </a:xfrm>
          <a:prstGeom prst="roundRect">
            <a:avLst>
              <a:gd name="adj" fmla="val 1429"/>
            </a:avLst>
          </a:prstGeom>
          <a:solidFill>
            <a:srgbClr val="FFFFFF"/>
          </a:solidFill>
          <a:ln/>
          <a:effectLst>
            <a:outerShdw sx="100000" sy="100000" kx="0" ky="0" algn="bl" rotWithShape="0" blurRad="127000" dist="25400" dir="16200000">
              <a:srgbClr val="103060">
                <a:alpha val="8000"/>
              </a:srgbClr>
            </a:outerShdw>
          </a:effectLst>
        </p:spPr>
      </p:sp>
      <p:sp>
        <p:nvSpPr>
          <p:cNvPr id="7" name="Text 5"/>
          <p:cNvSpPr/>
          <p:nvPr/>
        </p:nvSpPr>
        <p:spPr>
          <a:xfrm>
            <a:off x="685800" y="1325880"/>
            <a:ext cx="5029200" cy="329184"/>
          </a:xfrm>
          <a:prstGeom prst="rect">
            <a:avLst/>
          </a:prstGeom>
          <a:noFill/>
          <a:ln/>
        </p:spPr>
        <p:txBody>
          <a:bodyPr wrap="square" lIns="0" tIns="0" rIns="0" bIns="0" rtlCol="0" anchor="ctr"/>
          <a:lstStyle/>
          <a:p>
            <a:pPr indent="0" marL="0">
              <a:buNone/>
            </a:pPr>
            <a:r>
              <a:rPr lang="en-US" sz="1600" b="1" dirty="0">
                <a:solidFill>
                  <a:srgbClr val="9A1F3D"/>
                </a:solidFill>
                <a:latin typeface="Calibri" pitchFamily="34" charset="0"/>
                <a:ea typeface="Calibri" pitchFamily="34" charset="-122"/>
                <a:cs typeface="Calibri" pitchFamily="34" charset="-120"/>
              </a:rPr>
              <a:t>Products</a:t>
            </a:r>
            <a:endParaRPr lang="en-US" sz="1600" dirty="0"/>
          </a:p>
        </p:txBody>
      </p:sp>
      <p:sp>
        <p:nvSpPr>
          <p:cNvPr id="8" name="Shape 6"/>
          <p:cNvSpPr/>
          <p:nvPr/>
        </p:nvSpPr>
        <p:spPr>
          <a:xfrm>
            <a:off x="704088" y="1874520"/>
            <a:ext cx="146304" cy="146304"/>
          </a:xfrm>
          <a:prstGeom prst="ellipse">
            <a:avLst/>
          </a:prstGeom>
          <a:solidFill>
            <a:srgbClr val="103060"/>
          </a:solidFill>
          <a:ln/>
        </p:spPr>
      </p:sp>
      <p:sp>
        <p:nvSpPr>
          <p:cNvPr id="9" name="Text 7"/>
          <p:cNvSpPr/>
          <p:nvPr/>
        </p:nvSpPr>
        <p:spPr>
          <a:xfrm>
            <a:off x="978408" y="1755648"/>
            <a:ext cx="4709160" cy="50292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Career Compass, Venture Builder, AI Fluency, and Sentient Worlds, as Outcomes.</a:t>
            </a:r>
            <a:endParaRPr lang="en-US" sz="1500" dirty="0"/>
          </a:p>
        </p:txBody>
      </p:sp>
      <p:sp>
        <p:nvSpPr>
          <p:cNvPr id="10" name="Shape 8"/>
          <p:cNvSpPr/>
          <p:nvPr/>
        </p:nvSpPr>
        <p:spPr>
          <a:xfrm>
            <a:off x="704088" y="2532888"/>
            <a:ext cx="146304" cy="146304"/>
          </a:xfrm>
          <a:prstGeom prst="ellipse">
            <a:avLst/>
          </a:prstGeom>
          <a:solidFill>
            <a:srgbClr val="103060"/>
          </a:solidFill>
          <a:ln/>
        </p:spPr>
      </p:sp>
      <p:sp>
        <p:nvSpPr>
          <p:cNvPr id="11" name="Text 9"/>
          <p:cNvSpPr/>
          <p:nvPr/>
        </p:nvSpPr>
        <p:spPr>
          <a:xfrm>
            <a:off x="978408" y="2414016"/>
            <a:ext cx="4709160" cy="50292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EON Tacit and Brainy Soft Skills as two products.</a:t>
            </a:r>
            <a:endParaRPr lang="en-US" sz="1500" dirty="0"/>
          </a:p>
        </p:txBody>
      </p:sp>
      <p:sp>
        <p:nvSpPr>
          <p:cNvPr id="12" name="Shape 10"/>
          <p:cNvSpPr/>
          <p:nvPr/>
        </p:nvSpPr>
        <p:spPr>
          <a:xfrm>
            <a:off x="704088" y="3191256"/>
            <a:ext cx="146304" cy="146304"/>
          </a:xfrm>
          <a:prstGeom prst="ellipse">
            <a:avLst/>
          </a:prstGeom>
          <a:solidFill>
            <a:srgbClr val="103060"/>
          </a:solidFill>
          <a:ln/>
        </p:spPr>
      </p:sp>
      <p:sp>
        <p:nvSpPr>
          <p:cNvPr id="13" name="Text 11"/>
          <p:cNvSpPr/>
          <p:nvPr/>
        </p:nvSpPr>
        <p:spPr>
          <a:xfrm>
            <a:off x="978408" y="3072384"/>
            <a:ext cx="4709160" cy="50292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Assess IQ inside the Work Loop.</a:t>
            </a:r>
            <a:endParaRPr lang="en-US" sz="1500" dirty="0"/>
          </a:p>
        </p:txBody>
      </p:sp>
      <p:sp>
        <p:nvSpPr>
          <p:cNvPr id="14" name="Shape 12"/>
          <p:cNvSpPr/>
          <p:nvPr/>
        </p:nvSpPr>
        <p:spPr>
          <a:xfrm>
            <a:off x="704088" y="3849624"/>
            <a:ext cx="146304" cy="146304"/>
          </a:xfrm>
          <a:prstGeom prst="ellipse">
            <a:avLst/>
          </a:prstGeom>
          <a:solidFill>
            <a:srgbClr val="103060"/>
          </a:solidFill>
          <a:ln/>
        </p:spPr>
      </p:sp>
      <p:sp>
        <p:nvSpPr>
          <p:cNvPr id="15" name="Text 13"/>
          <p:cNvSpPr/>
          <p:nvPr/>
        </p:nvSpPr>
        <p:spPr>
          <a:xfrm>
            <a:off x="978408" y="3730752"/>
            <a:ext cx="4709160" cy="50292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Field IQ and Field IQ Edge as two cards.</a:t>
            </a:r>
            <a:endParaRPr lang="en-US" sz="1500" dirty="0"/>
          </a:p>
        </p:txBody>
      </p:sp>
      <p:sp>
        <p:nvSpPr>
          <p:cNvPr id="16" name="Shape 14"/>
          <p:cNvSpPr/>
          <p:nvPr/>
        </p:nvSpPr>
        <p:spPr>
          <a:xfrm>
            <a:off x="704088" y="4507992"/>
            <a:ext cx="146304" cy="146304"/>
          </a:xfrm>
          <a:prstGeom prst="ellipse">
            <a:avLst/>
          </a:prstGeom>
          <a:solidFill>
            <a:srgbClr val="103060"/>
          </a:solidFill>
          <a:ln/>
        </p:spPr>
      </p:sp>
      <p:sp>
        <p:nvSpPr>
          <p:cNvPr id="17" name="Text 15"/>
          <p:cNvSpPr/>
          <p:nvPr/>
        </p:nvSpPr>
        <p:spPr>
          <a:xfrm>
            <a:off x="978408" y="4389120"/>
            <a:ext cx="4709160" cy="50292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Competence IQ and EON Control in the shared strip.</a:t>
            </a:r>
            <a:endParaRPr lang="en-US" sz="1500" dirty="0"/>
          </a:p>
        </p:txBody>
      </p:sp>
      <p:sp>
        <p:nvSpPr>
          <p:cNvPr id="18" name="Shape 16"/>
          <p:cNvSpPr/>
          <p:nvPr/>
        </p:nvSpPr>
        <p:spPr>
          <a:xfrm>
            <a:off x="704088" y="5166360"/>
            <a:ext cx="146304" cy="146304"/>
          </a:xfrm>
          <a:prstGeom prst="ellipse">
            <a:avLst/>
          </a:prstGeom>
          <a:solidFill>
            <a:srgbClr val="103060"/>
          </a:solidFill>
          <a:ln/>
        </p:spPr>
      </p:sp>
      <p:sp>
        <p:nvSpPr>
          <p:cNvPr id="19" name="Text 17"/>
          <p:cNvSpPr/>
          <p:nvPr/>
        </p:nvSpPr>
        <p:spPr>
          <a:xfrm>
            <a:off x="978408" y="5047488"/>
            <a:ext cx="4709160" cy="50292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The idea itself: Digital Twin, Work Loop, Outcomes.</a:t>
            </a:r>
            <a:endParaRPr lang="en-US" sz="1500" dirty="0"/>
          </a:p>
        </p:txBody>
      </p:sp>
      <p:sp>
        <p:nvSpPr>
          <p:cNvPr id="20" name="Shape 18"/>
          <p:cNvSpPr/>
          <p:nvPr/>
        </p:nvSpPr>
        <p:spPr>
          <a:xfrm>
            <a:off x="6172200" y="1170432"/>
            <a:ext cx="5577840" cy="5120640"/>
          </a:xfrm>
          <a:prstGeom prst="roundRect">
            <a:avLst>
              <a:gd name="adj" fmla="val 1429"/>
            </a:avLst>
          </a:prstGeom>
          <a:solidFill>
            <a:srgbClr val="FFFFFF"/>
          </a:solidFill>
          <a:ln/>
          <a:effectLst>
            <a:outerShdw sx="100000" sy="100000" kx="0" ky="0" algn="bl" rotWithShape="0" blurRad="127000" dist="25400" dir="16200000">
              <a:srgbClr val="103060">
                <a:alpha val="8000"/>
              </a:srgbClr>
            </a:outerShdw>
          </a:effectLst>
        </p:spPr>
      </p:sp>
      <p:sp>
        <p:nvSpPr>
          <p:cNvPr id="21" name="Text 19"/>
          <p:cNvSpPr/>
          <p:nvPr/>
        </p:nvSpPr>
        <p:spPr>
          <a:xfrm>
            <a:off x="6446520" y="1325880"/>
            <a:ext cx="5029200" cy="329184"/>
          </a:xfrm>
          <a:prstGeom prst="rect">
            <a:avLst/>
          </a:prstGeom>
          <a:noFill/>
          <a:ln/>
        </p:spPr>
        <p:txBody>
          <a:bodyPr wrap="square" lIns="0" tIns="0" rIns="0" bIns="0" rtlCol="0" anchor="ctr"/>
          <a:lstStyle/>
          <a:p>
            <a:pPr indent="0" marL="0">
              <a:buNone/>
            </a:pPr>
            <a:r>
              <a:rPr lang="en-US" sz="1600" b="1" dirty="0">
                <a:solidFill>
                  <a:srgbClr val="9A1F3D"/>
                </a:solidFill>
                <a:latin typeface="Calibri" pitchFamily="34" charset="0"/>
                <a:ea typeface="Calibri" pitchFamily="34" charset="-122"/>
                <a:cs typeface="Calibri" pitchFamily="34" charset="-120"/>
              </a:rPr>
              <a:t>The look and the link</a:t>
            </a:r>
            <a:endParaRPr lang="en-US" sz="1600" dirty="0"/>
          </a:p>
        </p:txBody>
      </p:sp>
      <p:sp>
        <p:nvSpPr>
          <p:cNvPr id="22" name="Shape 20"/>
          <p:cNvSpPr/>
          <p:nvPr/>
        </p:nvSpPr>
        <p:spPr>
          <a:xfrm>
            <a:off x="6464808" y="1874520"/>
            <a:ext cx="146304" cy="146304"/>
          </a:xfrm>
          <a:prstGeom prst="ellipse">
            <a:avLst/>
          </a:prstGeom>
          <a:solidFill>
            <a:srgbClr val="103060"/>
          </a:solidFill>
          <a:ln/>
        </p:spPr>
      </p:sp>
      <p:sp>
        <p:nvSpPr>
          <p:cNvPr id="23" name="Text 21"/>
          <p:cNvSpPr/>
          <p:nvPr/>
        </p:nvSpPr>
        <p:spPr>
          <a:xfrm>
            <a:off x="6739128" y="1755648"/>
            <a:ext cx="4709160" cy="50292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The one-line menu: icon, SPATIAL, one sentence.</a:t>
            </a:r>
            <a:endParaRPr lang="en-US" sz="1500" dirty="0"/>
          </a:p>
        </p:txBody>
      </p:sp>
      <p:sp>
        <p:nvSpPr>
          <p:cNvPr id="24" name="Shape 22"/>
          <p:cNvSpPr/>
          <p:nvPr/>
        </p:nvSpPr>
        <p:spPr>
          <a:xfrm>
            <a:off x="6464808" y="2532888"/>
            <a:ext cx="146304" cy="146304"/>
          </a:xfrm>
          <a:prstGeom prst="ellipse">
            <a:avLst/>
          </a:prstGeom>
          <a:solidFill>
            <a:srgbClr val="103060"/>
          </a:solidFill>
          <a:ln/>
        </p:spPr>
      </p:sp>
      <p:sp>
        <p:nvSpPr>
          <p:cNvPr id="25" name="Text 23"/>
          <p:cNvSpPr/>
          <p:nvPr/>
        </p:nvSpPr>
        <p:spPr>
          <a:xfrm>
            <a:off x="6739128" y="2414016"/>
            <a:ext cx="4709160" cy="50292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The official mark on a navy bar.</a:t>
            </a:r>
            <a:endParaRPr lang="en-US" sz="1500" dirty="0"/>
          </a:p>
        </p:txBody>
      </p:sp>
      <p:sp>
        <p:nvSpPr>
          <p:cNvPr id="26" name="Shape 24"/>
          <p:cNvSpPr/>
          <p:nvPr/>
        </p:nvSpPr>
        <p:spPr>
          <a:xfrm>
            <a:off x="6464808" y="3191256"/>
            <a:ext cx="146304" cy="146304"/>
          </a:xfrm>
          <a:prstGeom prst="ellipse">
            <a:avLst/>
          </a:prstGeom>
          <a:solidFill>
            <a:srgbClr val="103060"/>
          </a:solidFill>
          <a:ln/>
        </p:spPr>
      </p:sp>
      <p:sp>
        <p:nvSpPr>
          <p:cNvPr id="27" name="Text 25"/>
          <p:cNvSpPr/>
          <p:nvPr/>
        </p:nvSpPr>
        <p:spPr>
          <a:xfrm>
            <a:off x="6739128" y="3072384"/>
            <a:ext cx="4709160" cy="50292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Maroon titles on a white sheet.</a:t>
            </a:r>
            <a:endParaRPr lang="en-US" sz="1500" dirty="0"/>
          </a:p>
        </p:txBody>
      </p:sp>
      <p:sp>
        <p:nvSpPr>
          <p:cNvPr id="28" name="Shape 26"/>
          <p:cNvSpPr/>
          <p:nvPr/>
        </p:nvSpPr>
        <p:spPr>
          <a:xfrm>
            <a:off x="6464808" y="3849624"/>
            <a:ext cx="146304" cy="146304"/>
          </a:xfrm>
          <a:prstGeom prst="ellipse">
            <a:avLst/>
          </a:prstGeom>
          <a:solidFill>
            <a:srgbClr val="103060"/>
          </a:solidFill>
          <a:ln/>
        </p:spPr>
      </p:sp>
      <p:sp>
        <p:nvSpPr>
          <p:cNvPr id="29" name="Text 27"/>
          <p:cNvSpPr/>
          <p:nvPr/>
        </p:nvSpPr>
        <p:spPr>
          <a:xfrm>
            <a:off x="6739128" y="3730752"/>
            <a:ext cx="4709160" cy="50292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Titillium Web, already used on campus and the platform.</a:t>
            </a:r>
            <a:endParaRPr lang="en-US" sz="1500" dirty="0"/>
          </a:p>
        </p:txBody>
      </p:sp>
      <p:sp>
        <p:nvSpPr>
          <p:cNvPr id="30" name="Shape 28"/>
          <p:cNvSpPr/>
          <p:nvPr/>
        </p:nvSpPr>
        <p:spPr>
          <a:xfrm>
            <a:off x="6464808" y="4507992"/>
            <a:ext cx="146304" cy="146304"/>
          </a:xfrm>
          <a:prstGeom prst="ellipse">
            <a:avLst/>
          </a:prstGeom>
          <a:solidFill>
            <a:srgbClr val="103060"/>
          </a:solidFill>
          <a:ln/>
        </p:spPr>
      </p:sp>
      <p:sp>
        <p:nvSpPr>
          <p:cNvPr id="31" name="Text 29"/>
          <p:cNvSpPr/>
          <p:nvPr/>
        </p:nvSpPr>
        <p:spPr>
          <a:xfrm>
            <a:off x="6739128" y="4389120"/>
            <a:ext cx="4709160" cy="50292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Global Virtual Campus as the learner home.</a:t>
            </a:r>
            <a:endParaRPr lang="en-US" sz="1500" dirty="0"/>
          </a:p>
        </p:txBody>
      </p:sp>
      <p:sp>
        <p:nvSpPr>
          <p:cNvPr id="32" name="Shape 30"/>
          <p:cNvSpPr/>
          <p:nvPr/>
        </p:nvSpPr>
        <p:spPr>
          <a:xfrm>
            <a:off x="6464808" y="5166360"/>
            <a:ext cx="146304" cy="146304"/>
          </a:xfrm>
          <a:prstGeom prst="ellipse">
            <a:avLst/>
          </a:prstGeom>
          <a:solidFill>
            <a:srgbClr val="103060"/>
          </a:solidFill>
          <a:ln/>
        </p:spPr>
      </p:sp>
      <p:sp>
        <p:nvSpPr>
          <p:cNvPr id="33" name="Text 31"/>
          <p:cNvSpPr/>
          <p:nvPr/>
        </p:nvSpPr>
        <p:spPr>
          <a:xfrm>
            <a:off x="6739128" y="5047488"/>
            <a:ext cx="4709160" cy="502920"/>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A click that lands on the story, not the app.</a:t>
            </a:r>
            <a:endParaRPr lang="en-US" sz="1500" dirty="0"/>
          </a:p>
        </p:txBody>
      </p:sp>
      <p:sp>
        <p:nvSpPr>
          <p:cNvPr id="34" name="Text 32"/>
          <p:cNvSpPr/>
          <p:nvPr/>
        </p:nvSpPr>
        <p:spPr>
          <a:xfrm>
            <a:off x="457200" y="6547104"/>
            <a:ext cx="9326880" cy="201168"/>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EON Reality   ·   Website suggestion   ·   October 2026</a:t>
            </a:r>
            <a:endParaRPr lang="en-US" sz="1100" dirty="0"/>
          </a:p>
        </p:txBody>
      </p:sp>
      <p:sp>
        <p:nvSpPr>
          <p:cNvPr id="35" name="Text 33"/>
          <p:cNvSpPr/>
          <p:nvPr/>
        </p:nvSpPr>
        <p:spPr>
          <a:xfrm>
            <a:off x="10241280" y="6547104"/>
            <a:ext cx="1463040" cy="201168"/>
          </a:xfrm>
          <a:prstGeom prst="rect">
            <a:avLst/>
          </a:prstGeom>
          <a:noFill/>
          <a:ln/>
        </p:spPr>
        <p:txBody>
          <a:bodyPr wrap="square" lIns="0" tIns="0" rIns="0" bIns="0" rtlCol="0" anchor="ctr"/>
          <a:lstStyle/>
          <a:p>
            <a:pPr algn="r" indent="0" marL="0">
              <a:buNone/>
            </a:pPr>
            <a:r>
              <a:rPr lang="en-US" sz="1100" dirty="0">
                <a:solidFill>
                  <a:srgbClr val="5C6B7A"/>
                </a:solidFill>
                <a:latin typeface="Calibri" pitchFamily="34" charset="0"/>
                <a:ea typeface="Calibri" pitchFamily="34" charset="-122"/>
                <a:cs typeface="Calibri" pitchFamily="34" charset="-120"/>
              </a:rPr>
              <a:t>7  /  14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F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3060"/>
          </a:solidFill>
          <a:ln/>
        </p:spPr>
      </p:sp>
      <p:sp>
        <p:nvSpPr>
          <p:cNvPr id="3" name="Shape 1"/>
          <p:cNvSpPr/>
          <p:nvPr/>
        </p:nvSpPr>
        <p:spPr>
          <a:xfrm>
            <a:off x="0" y="73152"/>
            <a:ext cx="12191695" cy="41148"/>
          </a:xfrm>
          <a:prstGeom prst="rect">
            <a:avLst/>
          </a:prstGeom>
          <a:solidFill>
            <a:srgbClr val="9A1F3D"/>
          </a:solidFill>
          <a:ln/>
        </p:spPr>
      </p:sp>
      <p:sp>
        <p:nvSpPr>
          <p:cNvPr id="4" name="Text 2"/>
          <p:cNvSpPr/>
          <p:nvPr/>
        </p:nvSpPr>
        <p:spPr>
          <a:xfrm>
            <a:off x="457200" y="256032"/>
            <a:ext cx="11247120" cy="237744"/>
          </a:xfrm>
          <a:prstGeom prst="rect">
            <a:avLst/>
          </a:prstGeom>
          <a:noFill/>
          <a:ln/>
        </p:spPr>
        <p:txBody>
          <a:bodyPr wrap="square" lIns="0" tIns="0" rIns="0" bIns="0" rtlCol="0" anchor="ctr"/>
          <a:lstStyle/>
          <a:p>
            <a:pPr indent="0" marL="0">
              <a:buNone/>
            </a:pPr>
            <a:r>
              <a:rPr lang="en-US" sz="1200" b="1" dirty="0">
                <a:solidFill>
                  <a:srgbClr val="9A1F3D"/>
                </a:solidFill>
                <a:latin typeface="Calibri" pitchFamily="34" charset="0"/>
                <a:ea typeface="Calibri" pitchFamily="34" charset="-122"/>
                <a:cs typeface="Calibri" pitchFamily="34" charset="-120"/>
              </a:rPr>
              <a:t>REMOVE</a:t>
            </a:r>
            <a:endParaRPr lang="en-US" sz="1200" dirty="0"/>
          </a:p>
        </p:txBody>
      </p:sp>
      <p:sp>
        <p:nvSpPr>
          <p:cNvPr id="5" name="Text 3"/>
          <p:cNvSpPr/>
          <p:nvPr/>
        </p:nvSpPr>
        <p:spPr>
          <a:xfrm>
            <a:off x="457200" y="475488"/>
            <a:ext cx="11247120" cy="420624"/>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What comes off the public website</a:t>
            </a:r>
            <a:endParaRPr lang="en-US" sz="2600" dirty="0"/>
          </a:p>
        </p:txBody>
      </p:sp>
      <p:sp>
        <p:nvSpPr>
          <p:cNvPr id="6" name="Shape 4"/>
          <p:cNvSpPr/>
          <p:nvPr/>
        </p:nvSpPr>
        <p:spPr>
          <a:xfrm>
            <a:off x="365760" y="1143000"/>
            <a:ext cx="5715000" cy="914400"/>
          </a:xfrm>
          <a:prstGeom prst="roundRect">
            <a:avLst>
              <a:gd name="adj" fmla="val 8000"/>
            </a:avLst>
          </a:prstGeom>
          <a:solidFill>
            <a:srgbClr val="FFFFFF"/>
          </a:solidFill>
          <a:ln/>
          <a:effectLst>
            <a:outerShdw sx="100000" sy="100000" kx="0" ky="0" algn="bl" rotWithShape="0" blurRad="127000" dist="25400" dir="16200000">
              <a:srgbClr val="103060">
                <a:alpha val="8000"/>
              </a:srgbClr>
            </a:outerShdw>
          </a:effectLst>
        </p:spPr>
      </p:sp>
      <p:sp>
        <p:nvSpPr>
          <p:cNvPr id="7" name="Text 5"/>
          <p:cNvSpPr/>
          <p:nvPr/>
        </p:nvSpPr>
        <p:spPr>
          <a:xfrm>
            <a:off x="566928" y="1234440"/>
            <a:ext cx="5349240" cy="310896"/>
          </a:xfrm>
          <a:prstGeom prst="rect">
            <a:avLst/>
          </a:prstGeom>
          <a:noFill/>
          <a:ln/>
        </p:spPr>
        <p:txBody>
          <a:bodyPr wrap="square" lIns="0" tIns="0" rIns="0" bIns="0" rtlCol="0" anchor="ctr"/>
          <a:lstStyle/>
          <a:p>
            <a:pPr indent="0" marL="0">
              <a:buNone/>
            </a:pPr>
            <a:r>
              <a:rPr lang="en-US" sz="1400" b="1" dirty="0">
                <a:solidFill>
                  <a:srgbClr val="103060"/>
                </a:solidFill>
                <a:latin typeface="Calibri" pitchFamily="34" charset="0"/>
                <a:ea typeface="Calibri" pitchFamily="34" charset="-122"/>
                <a:cs typeface="Calibri" pitchFamily="34" charset="-120"/>
              </a:rPr>
              <a:t>Assist IQ</a:t>
            </a:r>
            <a:endParaRPr lang="en-US" sz="1400" dirty="0"/>
          </a:p>
        </p:txBody>
      </p:sp>
      <p:sp>
        <p:nvSpPr>
          <p:cNvPr id="8" name="Text 6"/>
          <p:cNvSpPr/>
          <p:nvPr/>
        </p:nvSpPr>
        <p:spPr>
          <a:xfrm>
            <a:off x="566928" y="1563624"/>
            <a:ext cx="5349240" cy="365760"/>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Retired. No card.</a:t>
            </a:r>
            <a:endParaRPr lang="en-US" sz="1300" dirty="0"/>
          </a:p>
        </p:txBody>
      </p:sp>
      <p:sp>
        <p:nvSpPr>
          <p:cNvPr id="9" name="Shape 7"/>
          <p:cNvSpPr/>
          <p:nvPr/>
        </p:nvSpPr>
        <p:spPr>
          <a:xfrm>
            <a:off x="365760" y="2148840"/>
            <a:ext cx="5715000" cy="914400"/>
          </a:xfrm>
          <a:prstGeom prst="roundRect">
            <a:avLst>
              <a:gd name="adj" fmla="val 8000"/>
            </a:avLst>
          </a:prstGeom>
          <a:solidFill>
            <a:srgbClr val="FFFFFF"/>
          </a:solidFill>
          <a:ln/>
          <a:effectLst>
            <a:outerShdw sx="100000" sy="100000" kx="0" ky="0" algn="bl" rotWithShape="0" blurRad="127000" dist="25400" dir="16200000">
              <a:srgbClr val="103060">
                <a:alpha val="8000"/>
              </a:srgbClr>
            </a:outerShdw>
          </a:effectLst>
        </p:spPr>
      </p:sp>
      <p:sp>
        <p:nvSpPr>
          <p:cNvPr id="10" name="Text 8"/>
          <p:cNvSpPr/>
          <p:nvPr/>
        </p:nvSpPr>
        <p:spPr>
          <a:xfrm>
            <a:off x="566928" y="2240280"/>
            <a:ext cx="5349240" cy="310896"/>
          </a:xfrm>
          <a:prstGeom prst="rect">
            <a:avLst/>
          </a:prstGeom>
          <a:noFill/>
          <a:ln/>
        </p:spPr>
        <p:txBody>
          <a:bodyPr wrap="square" lIns="0" tIns="0" rIns="0" bIns="0" rtlCol="0" anchor="ctr"/>
          <a:lstStyle/>
          <a:p>
            <a:pPr indent="0" marL="0">
              <a:buNone/>
            </a:pPr>
            <a:r>
              <a:rPr lang="en-US" sz="1400" b="1" dirty="0">
                <a:solidFill>
                  <a:srgbClr val="103060"/>
                </a:solidFill>
                <a:latin typeface="Calibri" pitchFamily="34" charset="0"/>
                <a:ea typeface="Calibri" pitchFamily="34" charset="-122"/>
                <a:cs typeface="Calibri" pitchFamily="34" charset="-120"/>
              </a:rPr>
              <a:t>EON XR and EON AI as their own cards</a:t>
            </a:r>
            <a:endParaRPr lang="en-US" sz="1400" dirty="0"/>
          </a:p>
        </p:txBody>
      </p:sp>
      <p:sp>
        <p:nvSpPr>
          <p:cNvPr id="11" name="Text 9"/>
          <p:cNvSpPr/>
          <p:nvPr/>
        </p:nvSpPr>
        <p:spPr>
          <a:xfrm>
            <a:off x="566928" y="2569464"/>
            <a:ext cx="5349240" cy="365760"/>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They fold into EON XR Infinite.</a:t>
            </a:r>
            <a:endParaRPr lang="en-US" sz="1300" dirty="0"/>
          </a:p>
        </p:txBody>
      </p:sp>
      <p:sp>
        <p:nvSpPr>
          <p:cNvPr id="12" name="Shape 10"/>
          <p:cNvSpPr/>
          <p:nvPr/>
        </p:nvSpPr>
        <p:spPr>
          <a:xfrm>
            <a:off x="365760" y="3154680"/>
            <a:ext cx="5715000" cy="914400"/>
          </a:xfrm>
          <a:prstGeom prst="roundRect">
            <a:avLst>
              <a:gd name="adj" fmla="val 8000"/>
            </a:avLst>
          </a:prstGeom>
          <a:solidFill>
            <a:srgbClr val="FFFFFF"/>
          </a:solidFill>
          <a:ln/>
          <a:effectLst>
            <a:outerShdw sx="100000" sy="100000" kx="0" ky="0" algn="bl" rotWithShape="0" blurRad="127000" dist="25400" dir="16200000">
              <a:srgbClr val="103060">
                <a:alpha val="8000"/>
              </a:srgbClr>
            </a:outerShdw>
          </a:effectLst>
        </p:spPr>
      </p:sp>
      <p:sp>
        <p:nvSpPr>
          <p:cNvPr id="13" name="Text 11"/>
          <p:cNvSpPr/>
          <p:nvPr/>
        </p:nvSpPr>
        <p:spPr>
          <a:xfrm>
            <a:off x="566928" y="3246120"/>
            <a:ext cx="5349240" cy="310896"/>
          </a:xfrm>
          <a:prstGeom prst="rect">
            <a:avLst/>
          </a:prstGeom>
          <a:noFill/>
          <a:ln/>
        </p:spPr>
        <p:txBody>
          <a:bodyPr wrap="square" lIns="0" tIns="0" rIns="0" bIns="0" rtlCol="0" anchor="ctr"/>
          <a:lstStyle/>
          <a:p>
            <a:pPr indent="0" marL="0">
              <a:buNone/>
            </a:pPr>
            <a:r>
              <a:rPr lang="en-US" sz="1400" b="1" dirty="0">
                <a:solidFill>
                  <a:srgbClr val="103060"/>
                </a:solidFill>
                <a:latin typeface="Calibri" pitchFamily="34" charset="0"/>
                <a:ea typeface="Calibri" pitchFamily="34" charset="-122"/>
                <a:cs typeface="Calibri" pitchFamily="34" charset="-120"/>
              </a:rPr>
              <a:t>Genesis Trainer 2.0 and Genesis Simulator 3.0</a:t>
            </a:r>
            <a:endParaRPr lang="en-US" sz="1400" dirty="0"/>
          </a:p>
        </p:txBody>
      </p:sp>
      <p:sp>
        <p:nvSpPr>
          <p:cNvPr id="14" name="Text 12"/>
          <p:cNvSpPr/>
          <p:nvPr/>
        </p:nvSpPr>
        <p:spPr>
          <a:xfrm>
            <a:off x="566928" y="3575304"/>
            <a:ext cx="5349240" cy="365760"/>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They become Genesis 3.</a:t>
            </a:r>
            <a:endParaRPr lang="en-US" sz="1300" dirty="0"/>
          </a:p>
        </p:txBody>
      </p:sp>
      <p:sp>
        <p:nvSpPr>
          <p:cNvPr id="15" name="Shape 13"/>
          <p:cNvSpPr/>
          <p:nvPr/>
        </p:nvSpPr>
        <p:spPr>
          <a:xfrm>
            <a:off x="365760" y="4160520"/>
            <a:ext cx="5715000" cy="914400"/>
          </a:xfrm>
          <a:prstGeom prst="roundRect">
            <a:avLst>
              <a:gd name="adj" fmla="val 8000"/>
            </a:avLst>
          </a:prstGeom>
          <a:solidFill>
            <a:srgbClr val="FFFFFF"/>
          </a:solidFill>
          <a:ln/>
          <a:effectLst>
            <a:outerShdw sx="100000" sy="100000" kx="0" ky="0" algn="bl" rotWithShape="0" blurRad="127000" dist="25400" dir="16200000">
              <a:srgbClr val="103060">
                <a:alpha val="8000"/>
              </a:srgbClr>
            </a:outerShdw>
          </a:effectLst>
        </p:spPr>
      </p:sp>
      <p:sp>
        <p:nvSpPr>
          <p:cNvPr id="16" name="Text 14"/>
          <p:cNvSpPr/>
          <p:nvPr/>
        </p:nvSpPr>
        <p:spPr>
          <a:xfrm>
            <a:off x="566928" y="4251960"/>
            <a:ext cx="5349240" cy="310896"/>
          </a:xfrm>
          <a:prstGeom prst="rect">
            <a:avLst/>
          </a:prstGeom>
          <a:noFill/>
          <a:ln/>
        </p:spPr>
        <p:txBody>
          <a:bodyPr wrap="square" lIns="0" tIns="0" rIns="0" bIns="0" rtlCol="0" anchor="ctr"/>
          <a:lstStyle/>
          <a:p>
            <a:pPr indent="0" marL="0">
              <a:buNone/>
            </a:pPr>
            <a:r>
              <a:rPr lang="en-US" sz="1400" b="1" dirty="0">
                <a:solidFill>
                  <a:srgbClr val="103060"/>
                </a:solidFill>
                <a:latin typeface="Calibri" pitchFamily="34" charset="0"/>
                <a:ea typeface="Calibri" pitchFamily="34" charset="-122"/>
                <a:cs typeface="Calibri" pitchFamily="34" charset="-120"/>
              </a:rPr>
              <a:t>The concept bar</a:t>
            </a:r>
            <a:endParaRPr lang="en-US" sz="1400" dirty="0"/>
          </a:p>
        </p:txBody>
      </p:sp>
      <p:sp>
        <p:nvSpPr>
          <p:cNvPr id="17" name="Text 15"/>
          <p:cNvSpPr/>
          <p:nvPr/>
        </p:nvSpPr>
        <p:spPr>
          <a:xfrm>
            <a:off x="566928" y="4581144"/>
            <a:ext cx="5349240" cy="365760"/>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It sits above the platform story and repeats the architecture.</a:t>
            </a:r>
            <a:endParaRPr lang="en-US" sz="1300" dirty="0"/>
          </a:p>
        </p:txBody>
      </p:sp>
      <p:sp>
        <p:nvSpPr>
          <p:cNvPr id="18" name="Shape 16"/>
          <p:cNvSpPr/>
          <p:nvPr/>
        </p:nvSpPr>
        <p:spPr>
          <a:xfrm>
            <a:off x="365760" y="5166360"/>
            <a:ext cx="5715000" cy="914400"/>
          </a:xfrm>
          <a:prstGeom prst="roundRect">
            <a:avLst>
              <a:gd name="adj" fmla="val 8000"/>
            </a:avLst>
          </a:prstGeom>
          <a:solidFill>
            <a:srgbClr val="FFFFFF"/>
          </a:solidFill>
          <a:ln/>
          <a:effectLst>
            <a:outerShdw sx="100000" sy="100000" kx="0" ky="0" algn="bl" rotWithShape="0" blurRad="127000" dist="25400" dir="16200000">
              <a:srgbClr val="103060">
                <a:alpha val="8000"/>
              </a:srgbClr>
            </a:outerShdw>
          </a:effectLst>
        </p:spPr>
      </p:sp>
      <p:sp>
        <p:nvSpPr>
          <p:cNvPr id="19" name="Text 17"/>
          <p:cNvSpPr/>
          <p:nvPr/>
        </p:nvSpPr>
        <p:spPr>
          <a:xfrm>
            <a:off x="566928" y="5257800"/>
            <a:ext cx="5349240" cy="310896"/>
          </a:xfrm>
          <a:prstGeom prst="rect">
            <a:avLst/>
          </a:prstGeom>
          <a:noFill/>
          <a:ln/>
        </p:spPr>
        <p:txBody>
          <a:bodyPr wrap="square" lIns="0" tIns="0" rIns="0" bIns="0" rtlCol="0" anchor="ctr"/>
          <a:lstStyle/>
          <a:p>
            <a:pPr indent="0" marL="0">
              <a:buNone/>
            </a:pPr>
            <a:r>
              <a:rPr lang="en-US" sz="1400" b="1" dirty="0">
                <a:solidFill>
                  <a:srgbClr val="103060"/>
                </a:solidFill>
                <a:latin typeface="Calibri" pitchFamily="34" charset="0"/>
                <a:ea typeface="Calibri" pitchFamily="34" charset="-122"/>
                <a:cs typeface="Calibri" pitchFamily="34" charset="-120"/>
              </a:rPr>
              <a:t>The second education essay and the second government essay</a:t>
            </a:r>
            <a:endParaRPr lang="en-US" sz="1400" dirty="0"/>
          </a:p>
        </p:txBody>
      </p:sp>
      <p:sp>
        <p:nvSpPr>
          <p:cNvPr id="20" name="Text 18"/>
          <p:cNvSpPr/>
          <p:nvPr/>
        </p:nvSpPr>
        <p:spPr>
          <a:xfrm>
            <a:off x="566928" y="5586984"/>
            <a:ext cx="5349240" cy="365760"/>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One platform story is enough.</a:t>
            </a:r>
            <a:endParaRPr lang="en-US" sz="1300" dirty="0"/>
          </a:p>
        </p:txBody>
      </p:sp>
      <p:sp>
        <p:nvSpPr>
          <p:cNvPr id="21" name="Shape 19"/>
          <p:cNvSpPr/>
          <p:nvPr/>
        </p:nvSpPr>
        <p:spPr>
          <a:xfrm>
            <a:off x="6263640" y="1143000"/>
            <a:ext cx="5715000" cy="914400"/>
          </a:xfrm>
          <a:prstGeom prst="roundRect">
            <a:avLst>
              <a:gd name="adj" fmla="val 8000"/>
            </a:avLst>
          </a:prstGeom>
          <a:solidFill>
            <a:srgbClr val="FFFFFF"/>
          </a:solidFill>
          <a:ln/>
          <a:effectLst>
            <a:outerShdw sx="100000" sy="100000" kx="0" ky="0" algn="bl" rotWithShape="0" blurRad="127000" dist="25400" dir="16200000">
              <a:srgbClr val="103060">
                <a:alpha val="8000"/>
              </a:srgbClr>
            </a:outerShdw>
          </a:effectLst>
        </p:spPr>
      </p:sp>
      <p:sp>
        <p:nvSpPr>
          <p:cNvPr id="22" name="Text 20"/>
          <p:cNvSpPr/>
          <p:nvPr/>
        </p:nvSpPr>
        <p:spPr>
          <a:xfrm>
            <a:off x="6464808" y="1234440"/>
            <a:ext cx="5349240" cy="310896"/>
          </a:xfrm>
          <a:prstGeom prst="rect">
            <a:avLst/>
          </a:prstGeom>
          <a:noFill/>
          <a:ln/>
        </p:spPr>
        <p:txBody>
          <a:bodyPr wrap="square" lIns="0" tIns="0" rIns="0" bIns="0" rtlCol="0" anchor="ctr"/>
          <a:lstStyle/>
          <a:p>
            <a:pPr indent="0" marL="0">
              <a:buNone/>
            </a:pPr>
            <a:r>
              <a:rPr lang="en-US" sz="1400" b="1" dirty="0">
                <a:solidFill>
                  <a:srgbClr val="103060"/>
                </a:solidFill>
                <a:latin typeface="Calibri" pitchFamily="34" charset="0"/>
                <a:ea typeface="Calibri" pitchFamily="34" charset="-122"/>
                <a:cs typeface="Calibri" pitchFamily="34" charset="-120"/>
              </a:rPr>
              <a:t>The download shelf</a:t>
            </a:r>
            <a:endParaRPr lang="en-US" sz="1400" dirty="0"/>
          </a:p>
        </p:txBody>
      </p:sp>
      <p:sp>
        <p:nvSpPr>
          <p:cNvPr id="23" name="Text 21"/>
          <p:cNvSpPr/>
          <p:nvPr/>
        </p:nvSpPr>
        <p:spPr>
          <a:xfrm>
            <a:off x="6464808" y="1563624"/>
            <a:ext cx="5349240" cy="365760"/>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Excel, PDF, ZIP, and image prompts stay off the public page.</a:t>
            </a:r>
            <a:endParaRPr lang="en-US" sz="1300" dirty="0"/>
          </a:p>
        </p:txBody>
      </p:sp>
      <p:sp>
        <p:nvSpPr>
          <p:cNvPr id="24" name="Shape 22"/>
          <p:cNvSpPr/>
          <p:nvPr/>
        </p:nvSpPr>
        <p:spPr>
          <a:xfrm>
            <a:off x="6263640" y="2148840"/>
            <a:ext cx="5715000" cy="914400"/>
          </a:xfrm>
          <a:prstGeom prst="roundRect">
            <a:avLst>
              <a:gd name="adj" fmla="val 8000"/>
            </a:avLst>
          </a:prstGeom>
          <a:solidFill>
            <a:srgbClr val="FFFFFF"/>
          </a:solidFill>
          <a:ln/>
          <a:effectLst>
            <a:outerShdw sx="100000" sy="100000" kx="0" ky="0" algn="bl" rotWithShape="0" blurRad="127000" dist="25400" dir="16200000">
              <a:srgbClr val="103060">
                <a:alpha val="8000"/>
              </a:srgbClr>
            </a:outerShdw>
          </a:effectLst>
        </p:spPr>
      </p:sp>
      <p:sp>
        <p:nvSpPr>
          <p:cNvPr id="25" name="Text 23"/>
          <p:cNvSpPr/>
          <p:nvPr/>
        </p:nvSpPr>
        <p:spPr>
          <a:xfrm>
            <a:off x="6464808" y="2240280"/>
            <a:ext cx="5349240" cy="310896"/>
          </a:xfrm>
          <a:prstGeom prst="rect">
            <a:avLst/>
          </a:prstGeom>
          <a:noFill/>
          <a:ln/>
        </p:spPr>
        <p:txBody>
          <a:bodyPr wrap="square" lIns="0" tIns="0" rIns="0" bIns="0" rtlCol="0" anchor="ctr"/>
          <a:lstStyle/>
          <a:p>
            <a:pPr indent="0" marL="0">
              <a:buNone/>
            </a:pPr>
            <a:r>
              <a:rPr lang="en-US" sz="1400" b="1" dirty="0">
                <a:solidFill>
                  <a:srgbClr val="103060"/>
                </a:solidFill>
                <a:latin typeface="Calibri" pitchFamily="34" charset="0"/>
                <a:ea typeface="Calibri" pitchFamily="34" charset="-122"/>
                <a:cs typeface="Calibri" pitchFamily="34" charset="-120"/>
              </a:rPr>
              <a:t>Buttons into temporary tools</a:t>
            </a:r>
            <a:endParaRPr lang="en-US" sz="1400" dirty="0"/>
          </a:p>
        </p:txBody>
      </p:sp>
      <p:sp>
        <p:nvSpPr>
          <p:cNvPr id="26" name="Text 24"/>
          <p:cNvSpPr/>
          <p:nvPr/>
        </p:nvSpPr>
        <p:spPr>
          <a:xfrm>
            <a:off x="6464808" y="2569464"/>
            <a:ext cx="5349240" cy="365760"/>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TestFlight, Render, Drive, and short-lived demos.</a:t>
            </a:r>
            <a:endParaRPr lang="en-US" sz="1300" dirty="0"/>
          </a:p>
        </p:txBody>
      </p:sp>
      <p:sp>
        <p:nvSpPr>
          <p:cNvPr id="27" name="Shape 25"/>
          <p:cNvSpPr/>
          <p:nvPr/>
        </p:nvSpPr>
        <p:spPr>
          <a:xfrm>
            <a:off x="6263640" y="3154680"/>
            <a:ext cx="5715000" cy="914400"/>
          </a:xfrm>
          <a:prstGeom prst="roundRect">
            <a:avLst>
              <a:gd name="adj" fmla="val 8000"/>
            </a:avLst>
          </a:prstGeom>
          <a:solidFill>
            <a:srgbClr val="FFFFFF"/>
          </a:solidFill>
          <a:ln/>
          <a:effectLst>
            <a:outerShdw sx="100000" sy="100000" kx="0" ky="0" algn="bl" rotWithShape="0" blurRad="127000" dist="25400" dir="16200000">
              <a:srgbClr val="103060">
                <a:alpha val="8000"/>
              </a:srgbClr>
            </a:outerShdw>
          </a:effectLst>
        </p:spPr>
      </p:sp>
      <p:sp>
        <p:nvSpPr>
          <p:cNvPr id="28" name="Text 26"/>
          <p:cNvSpPr/>
          <p:nvPr/>
        </p:nvSpPr>
        <p:spPr>
          <a:xfrm>
            <a:off x="6464808" y="3246120"/>
            <a:ext cx="5349240" cy="310896"/>
          </a:xfrm>
          <a:prstGeom prst="rect">
            <a:avLst/>
          </a:prstGeom>
          <a:noFill/>
          <a:ln/>
        </p:spPr>
        <p:txBody>
          <a:bodyPr wrap="square" lIns="0" tIns="0" rIns="0" bIns="0" rtlCol="0" anchor="ctr"/>
          <a:lstStyle/>
          <a:p>
            <a:pPr indent="0" marL="0">
              <a:buNone/>
            </a:pPr>
            <a:r>
              <a:rPr lang="en-US" sz="1400" b="1" dirty="0">
                <a:solidFill>
                  <a:srgbClr val="103060"/>
                </a:solidFill>
                <a:latin typeface="Calibri" pitchFamily="34" charset="0"/>
                <a:ea typeface="Calibri" pitchFamily="34" charset="-122"/>
                <a:cs typeface="Calibri" pitchFamily="34" charset="-120"/>
              </a:rPr>
              <a:t>The left rail</a:t>
            </a:r>
            <a:endParaRPr lang="en-US" sz="1400" dirty="0"/>
          </a:p>
        </p:txBody>
      </p:sp>
      <p:sp>
        <p:nvSpPr>
          <p:cNvPr id="29" name="Text 27"/>
          <p:cNvSpPr/>
          <p:nvPr/>
        </p:nvSpPr>
        <p:spPr>
          <a:xfrm>
            <a:off x="6464808" y="3575304"/>
            <a:ext cx="5349240" cy="365760"/>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Foundation Technologies and Delivery Vehicles stay out.</a:t>
            </a:r>
            <a:endParaRPr lang="en-US" sz="1300" dirty="0"/>
          </a:p>
        </p:txBody>
      </p:sp>
      <p:sp>
        <p:nvSpPr>
          <p:cNvPr id="30" name="Shape 28"/>
          <p:cNvSpPr/>
          <p:nvPr/>
        </p:nvSpPr>
        <p:spPr>
          <a:xfrm>
            <a:off x="6263640" y="4160520"/>
            <a:ext cx="5715000" cy="914400"/>
          </a:xfrm>
          <a:prstGeom prst="roundRect">
            <a:avLst>
              <a:gd name="adj" fmla="val 8000"/>
            </a:avLst>
          </a:prstGeom>
          <a:solidFill>
            <a:srgbClr val="FFFFFF"/>
          </a:solidFill>
          <a:ln/>
          <a:effectLst>
            <a:outerShdw sx="100000" sy="100000" kx="0" ky="0" algn="bl" rotWithShape="0" blurRad="127000" dist="25400" dir="16200000">
              <a:srgbClr val="103060">
                <a:alpha val="8000"/>
              </a:srgbClr>
            </a:outerShdw>
          </a:effectLst>
        </p:spPr>
      </p:sp>
      <p:sp>
        <p:nvSpPr>
          <p:cNvPr id="31" name="Text 29"/>
          <p:cNvSpPr/>
          <p:nvPr/>
        </p:nvSpPr>
        <p:spPr>
          <a:xfrm>
            <a:off x="6464808" y="4251960"/>
            <a:ext cx="5349240" cy="310896"/>
          </a:xfrm>
          <a:prstGeom prst="rect">
            <a:avLst/>
          </a:prstGeom>
          <a:noFill/>
          <a:ln/>
        </p:spPr>
        <p:txBody>
          <a:bodyPr wrap="square" lIns="0" tIns="0" rIns="0" bIns="0" rtlCol="0" anchor="ctr"/>
          <a:lstStyle/>
          <a:p>
            <a:pPr indent="0" marL="0">
              <a:buNone/>
            </a:pPr>
            <a:r>
              <a:rPr lang="en-US" sz="1400" b="1" dirty="0">
                <a:solidFill>
                  <a:srgbClr val="103060"/>
                </a:solidFill>
                <a:latin typeface="Calibri" pitchFamily="34" charset="0"/>
                <a:ea typeface="Calibri" pitchFamily="34" charset="-122"/>
                <a:cs typeface="Calibri" pitchFamily="34" charset="-120"/>
              </a:rPr>
              <a:t>Essays under the short menu</a:t>
            </a:r>
            <a:endParaRPr lang="en-US" sz="1400" dirty="0"/>
          </a:p>
        </p:txBody>
      </p:sp>
      <p:sp>
        <p:nvSpPr>
          <p:cNvPr id="32" name="Text 30"/>
          <p:cNvSpPr/>
          <p:nvPr/>
        </p:nvSpPr>
        <p:spPr>
          <a:xfrm>
            <a:off x="6464808" y="4581144"/>
            <a:ext cx="5349240" cy="365760"/>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The menu is one line. The story lives on the long page.</a:t>
            </a:r>
            <a:endParaRPr lang="en-US" sz="1300" dirty="0"/>
          </a:p>
        </p:txBody>
      </p:sp>
      <p:sp>
        <p:nvSpPr>
          <p:cNvPr id="33" name="Shape 31"/>
          <p:cNvSpPr/>
          <p:nvPr/>
        </p:nvSpPr>
        <p:spPr>
          <a:xfrm>
            <a:off x="6263640" y="5166360"/>
            <a:ext cx="5715000" cy="914400"/>
          </a:xfrm>
          <a:prstGeom prst="roundRect">
            <a:avLst>
              <a:gd name="adj" fmla="val 8000"/>
            </a:avLst>
          </a:prstGeom>
          <a:solidFill>
            <a:srgbClr val="FFFFFF"/>
          </a:solidFill>
          <a:ln/>
          <a:effectLst>
            <a:outerShdw sx="100000" sy="100000" kx="0" ky="0" algn="bl" rotWithShape="0" blurRad="127000" dist="25400" dir="16200000">
              <a:srgbClr val="103060">
                <a:alpha val="8000"/>
              </a:srgbClr>
            </a:outerShdw>
          </a:effectLst>
        </p:spPr>
      </p:sp>
      <p:sp>
        <p:nvSpPr>
          <p:cNvPr id="34" name="Text 32"/>
          <p:cNvSpPr/>
          <p:nvPr/>
        </p:nvSpPr>
        <p:spPr>
          <a:xfrm>
            <a:off x="6464808" y="5257800"/>
            <a:ext cx="5349240" cy="310896"/>
          </a:xfrm>
          <a:prstGeom prst="rect">
            <a:avLst/>
          </a:prstGeom>
          <a:noFill/>
          <a:ln/>
        </p:spPr>
        <p:txBody>
          <a:bodyPr wrap="square" lIns="0" tIns="0" rIns="0" bIns="0" rtlCol="0" anchor="ctr"/>
          <a:lstStyle/>
          <a:p>
            <a:pPr indent="0" marL="0">
              <a:buNone/>
            </a:pPr>
            <a:r>
              <a:rPr lang="en-US" sz="1400" b="1" dirty="0">
                <a:solidFill>
                  <a:srgbClr val="103060"/>
                </a:solidFill>
                <a:latin typeface="Calibri" pitchFamily="34" charset="0"/>
                <a:ea typeface="Calibri" pitchFamily="34" charset="-122"/>
                <a:cs typeface="Calibri" pitchFamily="34" charset="-120"/>
              </a:rPr>
              <a:t>The stand-in logo and the plum header</a:t>
            </a:r>
            <a:endParaRPr lang="en-US" sz="1400" dirty="0"/>
          </a:p>
        </p:txBody>
      </p:sp>
      <p:sp>
        <p:nvSpPr>
          <p:cNvPr id="35" name="Text 33"/>
          <p:cNvSpPr/>
          <p:nvPr/>
        </p:nvSpPr>
        <p:spPr>
          <a:xfrm>
            <a:off x="6464808" y="5586984"/>
            <a:ext cx="5349240" cy="365760"/>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Use the official mark, navy, and maroon.</a:t>
            </a:r>
            <a:endParaRPr lang="en-US" sz="1300" dirty="0"/>
          </a:p>
        </p:txBody>
      </p:sp>
      <p:sp>
        <p:nvSpPr>
          <p:cNvPr id="36" name="Text 34"/>
          <p:cNvSpPr/>
          <p:nvPr/>
        </p:nvSpPr>
        <p:spPr>
          <a:xfrm>
            <a:off x="457200" y="6547104"/>
            <a:ext cx="9326880" cy="201168"/>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EON Reality   ·   Website suggestion   ·   October 2026</a:t>
            </a:r>
            <a:endParaRPr lang="en-US" sz="1100" dirty="0"/>
          </a:p>
        </p:txBody>
      </p:sp>
      <p:sp>
        <p:nvSpPr>
          <p:cNvPr id="37" name="Text 35"/>
          <p:cNvSpPr/>
          <p:nvPr/>
        </p:nvSpPr>
        <p:spPr>
          <a:xfrm>
            <a:off x="10241280" y="6547104"/>
            <a:ext cx="1463040" cy="201168"/>
          </a:xfrm>
          <a:prstGeom prst="rect">
            <a:avLst/>
          </a:prstGeom>
          <a:noFill/>
          <a:ln/>
        </p:spPr>
        <p:txBody>
          <a:bodyPr wrap="square" lIns="0" tIns="0" rIns="0" bIns="0" rtlCol="0" anchor="ctr"/>
          <a:lstStyle/>
          <a:p>
            <a:pPr algn="r" indent="0" marL="0">
              <a:buNone/>
            </a:pPr>
            <a:r>
              <a:rPr lang="en-US" sz="1100" dirty="0">
                <a:solidFill>
                  <a:srgbClr val="5C6B7A"/>
                </a:solidFill>
                <a:latin typeface="Calibri" pitchFamily="34" charset="0"/>
                <a:ea typeface="Calibri" pitchFamily="34" charset="-122"/>
                <a:cs typeface="Calibri" pitchFamily="34" charset="-120"/>
              </a:rPr>
              <a:t>8  /  14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F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3060"/>
          </a:solidFill>
          <a:ln/>
        </p:spPr>
      </p:sp>
      <p:sp>
        <p:nvSpPr>
          <p:cNvPr id="3" name="Shape 1"/>
          <p:cNvSpPr/>
          <p:nvPr/>
        </p:nvSpPr>
        <p:spPr>
          <a:xfrm>
            <a:off x="0" y="73152"/>
            <a:ext cx="12191695" cy="41148"/>
          </a:xfrm>
          <a:prstGeom prst="rect">
            <a:avLst/>
          </a:prstGeom>
          <a:solidFill>
            <a:srgbClr val="9A1F3D"/>
          </a:solidFill>
          <a:ln/>
        </p:spPr>
      </p:sp>
      <p:sp>
        <p:nvSpPr>
          <p:cNvPr id="4" name="Text 2"/>
          <p:cNvSpPr/>
          <p:nvPr/>
        </p:nvSpPr>
        <p:spPr>
          <a:xfrm>
            <a:off x="457200" y="256032"/>
            <a:ext cx="11247120" cy="237744"/>
          </a:xfrm>
          <a:prstGeom prst="rect">
            <a:avLst/>
          </a:prstGeom>
          <a:noFill/>
          <a:ln/>
        </p:spPr>
        <p:txBody>
          <a:bodyPr wrap="square" lIns="0" tIns="0" rIns="0" bIns="0" rtlCol="0" anchor="ctr"/>
          <a:lstStyle/>
          <a:p>
            <a:pPr indent="0" marL="0">
              <a:buNone/>
            </a:pPr>
            <a:r>
              <a:rPr lang="en-US" sz="1200" b="1" dirty="0">
                <a:solidFill>
                  <a:srgbClr val="9A1F3D"/>
                </a:solidFill>
                <a:latin typeface="Calibri" pitchFamily="34" charset="0"/>
                <a:ea typeface="Calibri" pitchFamily="34" charset="-122"/>
                <a:cs typeface="Calibri" pitchFamily="34" charset="-120"/>
              </a:rPr>
              <a:t>SUGGESTION</a:t>
            </a:r>
            <a:endParaRPr lang="en-US" sz="1200" dirty="0"/>
          </a:p>
        </p:txBody>
      </p:sp>
      <p:sp>
        <p:nvSpPr>
          <p:cNvPr id="5" name="Text 3"/>
          <p:cNvSpPr/>
          <p:nvPr/>
        </p:nvSpPr>
        <p:spPr>
          <a:xfrm>
            <a:off x="457200" y="475488"/>
            <a:ext cx="11247120" cy="420624"/>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Start here. Do not rebuild everything at once.</a:t>
            </a:r>
            <a:endParaRPr lang="en-US" sz="2600" dirty="0"/>
          </a:p>
        </p:txBody>
      </p:sp>
      <p:sp>
        <p:nvSpPr>
          <p:cNvPr id="6" name="Shape 4"/>
          <p:cNvSpPr/>
          <p:nvPr/>
        </p:nvSpPr>
        <p:spPr>
          <a:xfrm>
            <a:off x="457200" y="1252728"/>
            <a:ext cx="475488" cy="475488"/>
          </a:xfrm>
          <a:prstGeom prst="ellipse">
            <a:avLst/>
          </a:prstGeom>
          <a:solidFill>
            <a:srgbClr val="9A1F3D"/>
          </a:solidFill>
          <a:ln/>
        </p:spPr>
      </p:sp>
      <p:sp>
        <p:nvSpPr>
          <p:cNvPr id="7" name="Text 5"/>
          <p:cNvSpPr/>
          <p:nvPr/>
        </p:nvSpPr>
        <p:spPr>
          <a:xfrm>
            <a:off x="457200" y="1344168"/>
            <a:ext cx="47548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143000" y="1143000"/>
            <a:ext cx="10515600" cy="329184"/>
          </a:xfrm>
          <a:prstGeom prst="rect">
            <a:avLst/>
          </a:prstGeom>
          <a:noFill/>
          <a:ln/>
        </p:spPr>
        <p:txBody>
          <a:bodyPr wrap="square" lIns="0" tIns="0" rIns="0" bIns="0" rtlCol="0" anchor="ctr"/>
          <a:lstStyle/>
          <a:p>
            <a:pPr indent="0" marL="0">
              <a:buNone/>
            </a:pPr>
            <a:r>
              <a:rPr lang="en-US" sz="1800" b="1" dirty="0">
                <a:solidFill>
                  <a:srgbClr val="103060"/>
                </a:solidFill>
                <a:latin typeface="Calibri" pitchFamily="34" charset="0"/>
                <a:ea typeface="Calibri" pitchFamily="34" charset="-122"/>
                <a:cs typeface="Calibri" pitchFamily="34" charset="-120"/>
              </a:rPr>
              <a:t>Publish the short menu as the front.</a:t>
            </a:r>
            <a:endParaRPr lang="en-US" sz="1800" dirty="0"/>
          </a:p>
        </p:txBody>
      </p:sp>
      <p:sp>
        <p:nvSpPr>
          <p:cNvPr id="9" name="Text 7"/>
          <p:cNvSpPr/>
          <p:nvPr/>
        </p:nvSpPr>
        <p:spPr>
          <a:xfrm>
            <a:off x="1143000" y="1490472"/>
            <a:ext cx="10515600" cy="384048"/>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Four columns. One line each. This is the page people meet first.</a:t>
            </a:r>
            <a:endParaRPr lang="en-US" sz="1500" dirty="0"/>
          </a:p>
        </p:txBody>
      </p:sp>
      <p:sp>
        <p:nvSpPr>
          <p:cNvPr id="10" name="Shape 8"/>
          <p:cNvSpPr/>
          <p:nvPr/>
        </p:nvSpPr>
        <p:spPr>
          <a:xfrm>
            <a:off x="457200" y="2212848"/>
            <a:ext cx="475488" cy="475488"/>
          </a:xfrm>
          <a:prstGeom prst="ellipse">
            <a:avLst/>
          </a:prstGeom>
          <a:solidFill>
            <a:srgbClr val="9A1F3D"/>
          </a:solidFill>
          <a:ln/>
        </p:spPr>
      </p:sp>
      <p:sp>
        <p:nvSpPr>
          <p:cNvPr id="11" name="Text 9"/>
          <p:cNvSpPr/>
          <p:nvPr/>
        </p:nvSpPr>
        <p:spPr>
          <a:xfrm>
            <a:off x="457200" y="2304288"/>
            <a:ext cx="47548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143000" y="2103120"/>
            <a:ext cx="10515600" cy="329184"/>
          </a:xfrm>
          <a:prstGeom prst="rect">
            <a:avLst/>
          </a:prstGeom>
          <a:noFill/>
          <a:ln/>
        </p:spPr>
        <p:txBody>
          <a:bodyPr wrap="square" lIns="0" tIns="0" rIns="0" bIns="0" rtlCol="0" anchor="ctr"/>
          <a:lstStyle/>
          <a:p>
            <a:pPr indent="0" marL="0">
              <a:buNone/>
            </a:pPr>
            <a:r>
              <a:rPr lang="en-US" sz="1800" b="1" dirty="0">
                <a:solidFill>
                  <a:srgbClr val="103060"/>
                </a:solidFill>
                <a:latin typeface="Calibri" pitchFamily="34" charset="0"/>
                <a:ea typeface="Calibri" pitchFamily="34" charset="-122"/>
                <a:cs typeface="Calibri" pitchFamily="34" charset="-120"/>
              </a:rPr>
              <a:t>Keep the long platform as the story.</a:t>
            </a:r>
            <a:endParaRPr lang="en-US" sz="1800" dirty="0"/>
          </a:p>
        </p:txBody>
      </p:sp>
      <p:sp>
        <p:nvSpPr>
          <p:cNvPr id="13" name="Text 11"/>
          <p:cNvSpPr/>
          <p:nvPr/>
        </p:nvSpPr>
        <p:spPr>
          <a:xfrm>
            <a:off x="1143000" y="2450592"/>
            <a:ext cx="10515600" cy="384048"/>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Learn, Train, and Perform already open that story.</a:t>
            </a:r>
            <a:endParaRPr lang="en-US" sz="1500" dirty="0"/>
          </a:p>
        </p:txBody>
      </p:sp>
      <p:sp>
        <p:nvSpPr>
          <p:cNvPr id="14" name="Shape 12"/>
          <p:cNvSpPr/>
          <p:nvPr/>
        </p:nvSpPr>
        <p:spPr>
          <a:xfrm>
            <a:off x="457200" y="3172968"/>
            <a:ext cx="475488" cy="475488"/>
          </a:xfrm>
          <a:prstGeom prst="ellipse">
            <a:avLst/>
          </a:prstGeom>
          <a:solidFill>
            <a:srgbClr val="9A1F3D"/>
          </a:solidFill>
          <a:ln/>
        </p:spPr>
      </p:sp>
      <p:sp>
        <p:nvSpPr>
          <p:cNvPr id="15" name="Text 13"/>
          <p:cNvSpPr/>
          <p:nvPr/>
        </p:nvSpPr>
        <p:spPr>
          <a:xfrm>
            <a:off x="457200" y="3264408"/>
            <a:ext cx="47548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143000" y="3063240"/>
            <a:ext cx="10515600" cy="329184"/>
          </a:xfrm>
          <a:prstGeom prst="rect">
            <a:avLst/>
          </a:prstGeom>
          <a:noFill/>
          <a:ln/>
        </p:spPr>
        <p:txBody>
          <a:bodyPr wrap="square" lIns="0" tIns="0" rIns="0" bIns="0" rtlCol="0" anchor="ctr"/>
          <a:lstStyle/>
          <a:p>
            <a:pPr indent="0" marL="0">
              <a:buNone/>
            </a:pPr>
            <a:r>
              <a:rPr lang="en-US" sz="1800" b="1" dirty="0">
                <a:solidFill>
                  <a:srgbClr val="103060"/>
                </a:solidFill>
                <a:latin typeface="Calibri" pitchFamily="34" charset="0"/>
                <a:ea typeface="Calibri" pitchFamily="34" charset="-122"/>
                <a:cs typeface="Calibri" pitchFamily="34" charset="-120"/>
              </a:rPr>
              <a:t>Add the four outcomes to the long platform.</a:t>
            </a:r>
            <a:endParaRPr lang="en-US" sz="1800" dirty="0"/>
          </a:p>
        </p:txBody>
      </p:sp>
      <p:sp>
        <p:nvSpPr>
          <p:cNvPr id="17" name="Text 15"/>
          <p:cNvSpPr/>
          <p:nvPr/>
        </p:nvSpPr>
        <p:spPr>
          <a:xfrm>
            <a:off x="1143000" y="3410712"/>
            <a:ext cx="10515600" cy="384048"/>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Then point Career Compass, Venture Builder, AI Fluency, and Sentient Worlds there too.</a:t>
            </a:r>
            <a:endParaRPr lang="en-US" sz="1500" dirty="0"/>
          </a:p>
        </p:txBody>
      </p:sp>
      <p:sp>
        <p:nvSpPr>
          <p:cNvPr id="18" name="Shape 16"/>
          <p:cNvSpPr/>
          <p:nvPr/>
        </p:nvSpPr>
        <p:spPr>
          <a:xfrm>
            <a:off x="457200" y="4133088"/>
            <a:ext cx="475488" cy="475488"/>
          </a:xfrm>
          <a:prstGeom prst="ellipse">
            <a:avLst/>
          </a:prstGeom>
          <a:solidFill>
            <a:srgbClr val="9A1F3D"/>
          </a:solidFill>
          <a:ln/>
        </p:spPr>
      </p:sp>
      <p:sp>
        <p:nvSpPr>
          <p:cNvPr id="19" name="Text 17"/>
          <p:cNvSpPr/>
          <p:nvPr/>
        </p:nvSpPr>
        <p:spPr>
          <a:xfrm>
            <a:off x="457200" y="4224528"/>
            <a:ext cx="47548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143000" y="4023360"/>
            <a:ext cx="10515600" cy="329184"/>
          </a:xfrm>
          <a:prstGeom prst="rect">
            <a:avLst/>
          </a:prstGeom>
          <a:noFill/>
          <a:ln/>
        </p:spPr>
        <p:txBody>
          <a:bodyPr wrap="square" lIns="0" tIns="0" rIns="0" bIns="0" rtlCol="0" anchor="ctr"/>
          <a:lstStyle/>
          <a:p>
            <a:pPr indent="0" marL="0">
              <a:buNone/>
            </a:pPr>
            <a:r>
              <a:rPr lang="en-US" sz="1800" b="1" dirty="0">
                <a:solidFill>
                  <a:srgbClr val="103060"/>
                </a:solidFill>
                <a:latin typeface="Calibri" pitchFamily="34" charset="0"/>
                <a:ea typeface="Calibri" pitchFamily="34" charset="-122"/>
                <a:cs typeface="Calibri" pitchFamily="34" charset="-120"/>
              </a:rPr>
              <a:t>On Global Virtual Campus, replace EON XR with XR Infinite.</a:t>
            </a:r>
            <a:endParaRPr lang="en-US" sz="1800" dirty="0"/>
          </a:p>
        </p:txBody>
      </p:sp>
      <p:sp>
        <p:nvSpPr>
          <p:cNvPr id="21" name="Text 19"/>
          <p:cNvSpPr/>
          <p:nvPr/>
        </p:nvSpPr>
        <p:spPr>
          <a:xfrm>
            <a:off x="1143000" y="4370832"/>
            <a:ext cx="10515600" cy="384048"/>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The campus stays the learner home. The menu does not dump people on the campus homepage.</a:t>
            </a:r>
            <a:endParaRPr lang="en-US" sz="1500" dirty="0"/>
          </a:p>
        </p:txBody>
      </p:sp>
      <p:sp>
        <p:nvSpPr>
          <p:cNvPr id="22" name="Shape 20"/>
          <p:cNvSpPr/>
          <p:nvPr/>
        </p:nvSpPr>
        <p:spPr>
          <a:xfrm>
            <a:off x="457200" y="5093208"/>
            <a:ext cx="475488" cy="475488"/>
          </a:xfrm>
          <a:prstGeom prst="ellipse">
            <a:avLst/>
          </a:prstGeom>
          <a:solidFill>
            <a:srgbClr val="9A1F3D"/>
          </a:solidFill>
          <a:ln/>
        </p:spPr>
      </p:sp>
      <p:sp>
        <p:nvSpPr>
          <p:cNvPr id="23" name="Text 21"/>
          <p:cNvSpPr/>
          <p:nvPr/>
        </p:nvSpPr>
        <p:spPr>
          <a:xfrm>
            <a:off x="457200" y="5184648"/>
            <a:ext cx="475488"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4" name="Text 22"/>
          <p:cNvSpPr/>
          <p:nvPr/>
        </p:nvSpPr>
        <p:spPr>
          <a:xfrm>
            <a:off x="1143000" y="4983480"/>
            <a:ext cx="10515600" cy="329184"/>
          </a:xfrm>
          <a:prstGeom prst="rect">
            <a:avLst/>
          </a:prstGeom>
          <a:noFill/>
          <a:ln/>
        </p:spPr>
        <p:txBody>
          <a:bodyPr wrap="square" lIns="0" tIns="0" rIns="0" bIns="0" rtlCol="0" anchor="ctr"/>
          <a:lstStyle/>
          <a:p>
            <a:pPr indent="0" marL="0">
              <a:buNone/>
            </a:pPr>
            <a:r>
              <a:rPr lang="en-US" sz="1800" b="1" dirty="0">
                <a:solidFill>
                  <a:srgbClr val="103060"/>
                </a:solidFill>
                <a:latin typeface="Calibri" pitchFamily="34" charset="0"/>
                <a:ea typeface="Calibri" pitchFamily="34" charset="-122"/>
                <a:cs typeface="Calibri" pitchFamily="34" charset="-120"/>
              </a:rPr>
              <a:t>Place each new video on its long product page.</a:t>
            </a:r>
            <a:endParaRPr lang="en-US" sz="1800" dirty="0"/>
          </a:p>
        </p:txBody>
      </p:sp>
      <p:sp>
        <p:nvSpPr>
          <p:cNvPr id="25" name="Text 23"/>
          <p:cNvSpPr/>
          <p:nvPr/>
        </p:nvSpPr>
        <p:spPr>
          <a:xfrm>
            <a:off x="1143000" y="5330952"/>
            <a:ext cx="10515600" cy="384048"/>
          </a:xfrm>
          <a:prstGeom prst="rect">
            <a:avLst/>
          </a:prstGeom>
          <a:noFill/>
          <a:ln/>
        </p:spPr>
        <p:txBody>
          <a:bodyPr wrap="square" lIns="0" tIns="0" rIns="0" bIns="0" rtlCol="0" anchor="ctr"/>
          <a:lstStyle/>
          <a:p>
            <a:pPr indent="0" marL="0">
              <a:buNone/>
            </a:pPr>
            <a:r>
              <a:rPr lang="en-US" sz="1500" dirty="0">
                <a:solidFill>
                  <a:srgbClr val="142033"/>
                </a:solidFill>
                <a:latin typeface="Calibri" pitchFamily="34" charset="0"/>
                <a:ea typeface="Calibri" pitchFamily="34" charset="-122"/>
                <a:cs typeface="Calibri" pitchFamily="34" charset="-120"/>
              </a:rPr>
              <a:t>Under the story. The short menu stays one line.</a:t>
            </a:r>
            <a:endParaRPr lang="en-US" sz="1500" dirty="0"/>
          </a:p>
        </p:txBody>
      </p:sp>
      <p:sp>
        <p:nvSpPr>
          <p:cNvPr id="26" name="Text 24"/>
          <p:cNvSpPr/>
          <p:nvPr/>
        </p:nvSpPr>
        <p:spPr>
          <a:xfrm>
            <a:off x="457200" y="6547104"/>
            <a:ext cx="9326880" cy="201168"/>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EON Reality   ·   Website suggestion   ·   October 2026</a:t>
            </a:r>
            <a:endParaRPr lang="en-US" sz="1100" dirty="0"/>
          </a:p>
        </p:txBody>
      </p:sp>
      <p:sp>
        <p:nvSpPr>
          <p:cNvPr id="27" name="Text 25"/>
          <p:cNvSpPr/>
          <p:nvPr/>
        </p:nvSpPr>
        <p:spPr>
          <a:xfrm>
            <a:off x="10241280" y="6547104"/>
            <a:ext cx="1463040" cy="201168"/>
          </a:xfrm>
          <a:prstGeom prst="rect">
            <a:avLst/>
          </a:prstGeom>
          <a:noFill/>
          <a:ln/>
        </p:spPr>
        <p:txBody>
          <a:bodyPr wrap="square" lIns="0" tIns="0" rIns="0" bIns="0" rtlCol="0" anchor="ctr"/>
          <a:lstStyle/>
          <a:p>
            <a:pPr algn="r" indent="0" marL="0">
              <a:buNone/>
            </a:pPr>
            <a:r>
              <a:rPr lang="en-US" sz="1100" dirty="0">
                <a:solidFill>
                  <a:srgbClr val="5C6B7A"/>
                </a:solidFill>
                <a:latin typeface="Calibri" pitchFamily="34" charset="0"/>
                <a:ea typeface="Calibri" pitchFamily="34" charset="-122"/>
                <a:cs typeface="Calibri" pitchFamily="34" charset="-120"/>
              </a:rPr>
              <a:t>9  /  14</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F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3060"/>
          </a:solidFill>
          <a:ln/>
        </p:spPr>
      </p:sp>
      <p:sp>
        <p:nvSpPr>
          <p:cNvPr id="3" name="Shape 1"/>
          <p:cNvSpPr/>
          <p:nvPr/>
        </p:nvSpPr>
        <p:spPr>
          <a:xfrm>
            <a:off x="0" y="73152"/>
            <a:ext cx="12191695" cy="41148"/>
          </a:xfrm>
          <a:prstGeom prst="rect">
            <a:avLst/>
          </a:prstGeom>
          <a:solidFill>
            <a:srgbClr val="9A1F3D"/>
          </a:solidFill>
          <a:ln/>
        </p:spPr>
      </p:sp>
      <p:sp>
        <p:nvSpPr>
          <p:cNvPr id="4" name="Text 2"/>
          <p:cNvSpPr/>
          <p:nvPr/>
        </p:nvSpPr>
        <p:spPr>
          <a:xfrm>
            <a:off x="457200" y="256032"/>
            <a:ext cx="11247120" cy="237744"/>
          </a:xfrm>
          <a:prstGeom prst="rect">
            <a:avLst/>
          </a:prstGeom>
          <a:noFill/>
          <a:ln/>
        </p:spPr>
        <p:txBody>
          <a:bodyPr wrap="square" lIns="0" tIns="0" rIns="0" bIns="0" rtlCol="0" anchor="ctr"/>
          <a:lstStyle/>
          <a:p>
            <a:pPr indent="0" marL="0">
              <a:buNone/>
            </a:pPr>
            <a:r>
              <a:rPr lang="en-US" sz="1200" b="1" dirty="0">
                <a:solidFill>
                  <a:srgbClr val="9A1F3D"/>
                </a:solidFill>
                <a:latin typeface="Calibri" pitchFamily="34" charset="0"/>
                <a:ea typeface="Calibri" pitchFamily="34" charset="-122"/>
                <a:cs typeface="Calibri" pitchFamily="34" charset="-120"/>
              </a:rPr>
              <a:t>GLOBAL VIRTUAL CAMPUS</a:t>
            </a:r>
            <a:endParaRPr lang="en-US" sz="1200" dirty="0"/>
          </a:p>
        </p:txBody>
      </p:sp>
      <p:sp>
        <p:nvSpPr>
          <p:cNvPr id="5" name="Text 3"/>
          <p:cNvSpPr/>
          <p:nvPr/>
        </p:nvSpPr>
        <p:spPr>
          <a:xfrm>
            <a:off x="457200" y="475488"/>
            <a:ext cx="11247120" cy="420624"/>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What links today, and what still changes</a:t>
            </a:r>
            <a:endParaRPr lang="en-US" sz="2600" dirty="0"/>
          </a:p>
        </p:txBody>
      </p:sp>
      <p:sp>
        <p:nvSpPr>
          <p:cNvPr id="6" name="Shape 4"/>
          <p:cNvSpPr/>
          <p:nvPr/>
        </p:nvSpPr>
        <p:spPr>
          <a:xfrm>
            <a:off x="411480" y="1234440"/>
            <a:ext cx="11338560" cy="1389888"/>
          </a:xfrm>
          <a:prstGeom prst="roundRect">
            <a:avLst>
              <a:gd name="adj" fmla="val 5263"/>
            </a:avLst>
          </a:prstGeom>
          <a:solidFill>
            <a:srgbClr val="FFFFFF"/>
          </a:solidFill>
          <a:ln/>
          <a:effectLst>
            <a:outerShdw sx="100000" sy="100000" kx="0" ky="0" algn="bl" rotWithShape="0" blurRad="127000" dist="25400" dir="16200000">
              <a:srgbClr val="103060">
                <a:alpha val="8000"/>
              </a:srgbClr>
            </a:outerShdw>
          </a:effectLst>
        </p:spPr>
      </p:sp>
      <p:sp>
        <p:nvSpPr>
          <p:cNvPr id="7" name="Shape 5"/>
          <p:cNvSpPr/>
          <p:nvPr/>
        </p:nvSpPr>
        <p:spPr>
          <a:xfrm>
            <a:off x="411480" y="1234440"/>
            <a:ext cx="109728" cy="1389888"/>
          </a:xfrm>
          <a:prstGeom prst="rect">
            <a:avLst/>
          </a:prstGeom>
          <a:solidFill>
            <a:srgbClr val="103060"/>
          </a:solidFill>
          <a:ln/>
        </p:spPr>
      </p:sp>
      <p:sp>
        <p:nvSpPr>
          <p:cNvPr id="8" name="Text 6"/>
          <p:cNvSpPr/>
          <p:nvPr/>
        </p:nvSpPr>
        <p:spPr>
          <a:xfrm>
            <a:off x="777240" y="1435608"/>
            <a:ext cx="10607040" cy="329184"/>
          </a:xfrm>
          <a:prstGeom prst="rect">
            <a:avLst/>
          </a:prstGeom>
          <a:noFill/>
          <a:ln/>
        </p:spPr>
        <p:txBody>
          <a:bodyPr wrap="square" lIns="0" tIns="0" rIns="0" bIns="0" rtlCol="0" anchor="ctr"/>
          <a:lstStyle/>
          <a:p>
            <a:pPr indent="0" marL="0">
              <a:buNone/>
            </a:pPr>
            <a:r>
              <a:rPr lang="en-US" sz="1800" b="1" dirty="0">
                <a:solidFill>
                  <a:srgbClr val="103060"/>
                </a:solidFill>
                <a:latin typeface="Calibri" pitchFamily="34" charset="0"/>
                <a:ea typeface="Calibri" pitchFamily="34" charset="-122"/>
                <a:cs typeface="Calibri" pitchFamily="34" charset="-120"/>
              </a:rPr>
              <a:t>Stays</a:t>
            </a:r>
            <a:endParaRPr lang="en-US" sz="1800" dirty="0"/>
          </a:p>
        </p:txBody>
      </p:sp>
      <p:sp>
        <p:nvSpPr>
          <p:cNvPr id="9" name="Text 7"/>
          <p:cNvSpPr/>
          <p:nvPr/>
        </p:nvSpPr>
        <p:spPr>
          <a:xfrm>
            <a:off x="777240" y="1856232"/>
            <a:ext cx="10607040" cy="548640"/>
          </a:xfrm>
          <a:prstGeom prst="rect">
            <a:avLst/>
          </a:prstGeom>
          <a:noFill/>
          <a:ln/>
        </p:spPr>
        <p:txBody>
          <a:bodyPr wrap="square" lIns="0" tIns="0" rIns="0" bIns="0" rtlCol="0" anchor="ctr"/>
          <a:lstStyle/>
          <a:p>
            <a:pPr indent="0" marL="0">
              <a:buNone/>
            </a:pPr>
            <a:r>
              <a:rPr lang="en-US" sz="1600" dirty="0">
                <a:solidFill>
                  <a:srgbClr val="142033"/>
                </a:solidFill>
                <a:latin typeface="Calibri" pitchFamily="34" charset="0"/>
                <a:ea typeface="Calibri" pitchFamily="34" charset="-122"/>
                <a:cs typeface="Calibri" pitchFamily="34" charset="-120"/>
              </a:rPr>
              <a:t>The campus remains the learner home. AI Fluency already has its own address on the campus.</a:t>
            </a:r>
            <a:endParaRPr lang="en-US" sz="1600" dirty="0"/>
          </a:p>
        </p:txBody>
      </p:sp>
      <p:sp>
        <p:nvSpPr>
          <p:cNvPr id="10" name="Shape 8"/>
          <p:cNvSpPr/>
          <p:nvPr/>
        </p:nvSpPr>
        <p:spPr>
          <a:xfrm>
            <a:off x="411480" y="2788920"/>
            <a:ext cx="11338560" cy="1389888"/>
          </a:xfrm>
          <a:prstGeom prst="roundRect">
            <a:avLst>
              <a:gd name="adj" fmla="val 5263"/>
            </a:avLst>
          </a:prstGeom>
          <a:solidFill>
            <a:srgbClr val="FFFFFF"/>
          </a:solidFill>
          <a:ln/>
          <a:effectLst>
            <a:outerShdw sx="100000" sy="100000" kx="0" ky="0" algn="bl" rotWithShape="0" blurRad="127000" dist="25400" dir="16200000">
              <a:srgbClr val="103060">
                <a:alpha val="8000"/>
              </a:srgbClr>
            </a:outerShdw>
          </a:effectLst>
        </p:spPr>
      </p:sp>
      <p:sp>
        <p:nvSpPr>
          <p:cNvPr id="11" name="Shape 9"/>
          <p:cNvSpPr/>
          <p:nvPr/>
        </p:nvSpPr>
        <p:spPr>
          <a:xfrm>
            <a:off x="411480" y="2788920"/>
            <a:ext cx="109728" cy="1389888"/>
          </a:xfrm>
          <a:prstGeom prst="rect">
            <a:avLst/>
          </a:prstGeom>
          <a:solidFill>
            <a:srgbClr val="9A1F3D"/>
          </a:solidFill>
          <a:ln/>
        </p:spPr>
      </p:sp>
      <p:sp>
        <p:nvSpPr>
          <p:cNvPr id="12" name="Text 10"/>
          <p:cNvSpPr/>
          <p:nvPr/>
        </p:nvSpPr>
        <p:spPr>
          <a:xfrm>
            <a:off x="777240" y="2990088"/>
            <a:ext cx="10607040" cy="329184"/>
          </a:xfrm>
          <a:prstGeom prst="rect">
            <a:avLst/>
          </a:prstGeom>
          <a:noFill/>
          <a:ln/>
        </p:spPr>
        <p:txBody>
          <a:bodyPr wrap="square" lIns="0" tIns="0" rIns="0" bIns="0" rtlCol="0" anchor="ctr"/>
          <a:lstStyle/>
          <a:p>
            <a:pPr indent="0" marL="0">
              <a:buNone/>
            </a:pPr>
            <a:r>
              <a:rPr lang="en-US" sz="1800" b="1" dirty="0">
                <a:solidFill>
                  <a:srgbClr val="103060"/>
                </a:solidFill>
                <a:latin typeface="Calibri" pitchFamily="34" charset="0"/>
                <a:ea typeface="Calibri" pitchFamily="34" charset="-122"/>
                <a:cs typeface="Calibri" pitchFamily="34" charset="-120"/>
              </a:rPr>
              <a:t>Changes</a:t>
            </a:r>
            <a:endParaRPr lang="en-US" sz="1800" dirty="0"/>
          </a:p>
        </p:txBody>
      </p:sp>
      <p:sp>
        <p:nvSpPr>
          <p:cNvPr id="13" name="Text 11"/>
          <p:cNvSpPr/>
          <p:nvPr/>
        </p:nvSpPr>
        <p:spPr>
          <a:xfrm>
            <a:off x="777240" y="3410712"/>
            <a:ext cx="10607040" cy="548640"/>
          </a:xfrm>
          <a:prstGeom prst="rect">
            <a:avLst/>
          </a:prstGeom>
          <a:noFill/>
          <a:ln/>
        </p:spPr>
        <p:txBody>
          <a:bodyPr wrap="square" lIns="0" tIns="0" rIns="0" bIns="0" rtlCol="0" anchor="ctr"/>
          <a:lstStyle/>
          <a:p>
            <a:pPr indent="0" marL="0">
              <a:buNone/>
            </a:pPr>
            <a:r>
              <a:rPr lang="en-US" sz="1600" dirty="0">
                <a:solidFill>
                  <a:srgbClr val="142033"/>
                </a:solidFill>
                <a:latin typeface="Calibri" pitchFamily="34" charset="0"/>
                <a:ea typeface="Calibri" pitchFamily="34" charset="-122"/>
                <a:cs typeface="Calibri" pitchFamily="34" charset="-120"/>
              </a:rPr>
              <a:t>EON XR models on the campus become XR Infinite. That swap is not done yet.</a:t>
            </a:r>
            <a:endParaRPr lang="en-US" sz="1600" dirty="0"/>
          </a:p>
        </p:txBody>
      </p:sp>
      <p:sp>
        <p:nvSpPr>
          <p:cNvPr id="14" name="Shape 12"/>
          <p:cNvSpPr/>
          <p:nvPr/>
        </p:nvSpPr>
        <p:spPr>
          <a:xfrm>
            <a:off x="411480" y="4343400"/>
            <a:ext cx="11338560" cy="1389888"/>
          </a:xfrm>
          <a:prstGeom prst="roundRect">
            <a:avLst>
              <a:gd name="adj" fmla="val 5263"/>
            </a:avLst>
          </a:prstGeom>
          <a:solidFill>
            <a:srgbClr val="FFFFFF"/>
          </a:solidFill>
          <a:ln/>
          <a:effectLst>
            <a:outerShdw sx="100000" sy="100000" kx="0" ky="0" algn="bl" rotWithShape="0" blurRad="127000" dist="25400" dir="16200000">
              <a:srgbClr val="103060">
                <a:alpha val="8000"/>
              </a:srgbClr>
            </a:outerShdw>
          </a:effectLst>
        </p:spPr>
      </p:sp>
      <p:sp>
        <p:nvSpPr>
          <p:cNvPr id="15" name="Shape 13"/>
          <p:cNvSpPr/>
          <p:nvPr/>
        </p:nvSpPr>
        <p:spPr>
          <a:xfrm>
            <a:off x="411480" y="4343400"/>
            <a:ext cx="109728" cy="1389888"/>
          </a:xfrm>
          <a:prstGeom prst="rect">
            <a:avLst/>
          </a:prstGeom>
          <a:solidFill>
            <a:srgbClr val="103060"/>
          </a:solidFill>
          <a:ln/>
        </p:spPr>
      </p:sp>
      <p:sp>
        <p:nvSpPr>
          <p:cNvPr id="16" name="Text 14"/>
          <p:cNvSpPr/>
          <p:nvPr/>
        </p:nvSpPr>
        <p:spPr>
          <a:xfrm>
            <a:off x="777240" y="4544568"/>
            <a:ext cx="10607040" cy="329184"/>
          </a:xfrm>
          <a:prstGeom prst="rect">
            <a:avLst/>
          </a:prstGeom>
          <a:noFill/>
          <a:ln/>
        </p:spPr>
        <p:txBody>
          <a:bodyPr wrap="square" lIns="0" tIns="0" rIns="0" bIns="0" rtlCol="0" anchor="ctr"/>
          <a:lstStyle/>
          <a:p>
            <a:pPr indent="0" marL="0">
              <a:buNone/>
            </a:pPr>
            <a:r>
              <a:rPr lang="en-US" sz="1800" b="1" dirty="0">
                <a:solidFill>
                  <a:srgbClr val="103060"/>
                </a:solidFill>
                <a:latin typeface="Calibri" pitchFamily="34" charset="0"/>
                <a:ea typeface="Calibri" pitchFamily="34" charset="-122"/>
                <a:cs typeface="Calibri" pitchFamily="34" charset="-120"/>
              </a:rPr>
              <a:t>Does not get a new address yet</a:t>
            </a:r>
            <a:endParaRPr lang="en-US" sz="1800" dirty="0"/>
          </a:p>
        </p:txBody>
      </p:sp>
      <p:sp>
        <p:nvSpPr>
          <p:cNvPr id="17" name="Text 15"/>
          <p:cNvSpPr/>
          <p:nvPr/>
        </p:nvSpPr>
        <p:spPr>
          <a:xfrm>
            <a:off x="777240" y="4965192"/>
            <a:ext cx="10607040" cy="548640"/>
          </a:xfrm>
          <a:prstGeom prst="rect">
            <a:avLst/>
          </a:prstGeom>
          <a:noFill/>
          <a:ln/>
        </p:spPr>
        <p:txBody>
          <a:bodyPr wrap="square" lIns="0" tIns="0" rIns="0" bIns="0" rtlCol="0" anchor="ctr"/>
          <a:lstStyle/>
          <a:p>
            <a:pPr indent="0" marL="0">
              <a:buNone/>
            </a:pPr>
            <a:r>
              <a:rPr lang="en-US" sz="1600" dirty="0">
                <a:solidFill>
                  <a:srgbClr val="142033"/>
                </a:solidFill>
                <a:latin typeface="Calibri" pitchFamily="34" charset="0"/>
                <a:ea typeface="Calibri" pitchFamily="34" charset="-122"/>
                <a:cs typeface="Calibri" pitchFamily="34" charset="-120"/>
              </a:rPr>
              <a:t>Career Compass and Venture Builder are sections on the campus home, not their own routes. Their cards stay on the published Reality pages.</a:t>
            </a:r>
            <a:endParaRPr lang="en-US" sz="1600" dirty="0"/>
          </a:p>
        </p:txBody>
      </p:sp>
      <p:sp>
        <p:nvSpPr>
          <p:cNvPr id="18" name="Text 16"/>
          <p:cNvSpPr/>
          <p:nvPr/>
        </p:nvSpPr>
        <p:spPr>
          <a:xfrm>
            <a:off x="457200" y="6547104"/>
            <a:ext cx="9326880" cy="201168"/>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EON Reality   ·   Website suggestion   ·   October 2026</a:t>
            </a:r>
            <a:endParaRPr lang="en-US" sz="1100" dirty="0"/>
          </a:p>
        </p:txBody>
      </p:sp>
      <p:sp>
        <p:nvSpPr>
          <p:cNvPr id="19" name="Text 17"/>
          <p:cNvSpPr/>
          <p:nvPr/>
        </p:nvSpPr>
        <p:spPr>
          <a:xfrm>
            <a:off x="10241280" y="6547104"/>
            <a:ext cx="1463040" cy="201168"/>
          </a:xfrm>
          <a:prstGeom prst="rect">
            <a:avLst/>
          </a:prstGeom>
          <a:noFill/>
          <a:ln/>
        </p:spPr>
        <p:txBody>
          <a:bodyPr wrap="square" lIns="0" tIns="0" rIns="0" bIns="0" rtlCol="0" anchor="ctr"/>
          <a:lstStyle/>
          <a:p>
            <a:pPr algn="r" indent="0" marL="0">
              <a:buNone/>
            </a:pPr>
            <a:r>
              <a:rPr lang="en-US" sz="1100" dirty="0">
                <a:solidFill>
                  <a:srgbClr val="5C6B7A"/>
                </a:solidFill>
                <a:latin typeface="Calibri" pitchFamily="34" charset="0"/>
                <a:ea typeface="Calibri" pitchFamily="34" charset="-122"/>
                <a:cs typeface="Calibri" pitchFamily="34" charset="-120"/>
              </a:rPr>
              <a:t>10  /  14</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F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3060"/>
          </a:solidFill>
          <a:ln/>
        </p:spPr>
      </p:sp>
      <p:sp>
        <p:nvSpPr>
          <p:cNvPr id="3" name="Shape 1"/>
          <p:cNvSpPr/>
          <p:nvPr/>
        </p:nvSpPr>
        <p:spPr>
          <a:xfrm>
            <a:off x="0" y="73152"/>
            <a:ext cx="12191695" cy="41148"/>
          </a:xfrm>
          <a:prstGeom prst="rect">
            <a:avLst/>
          </a:prstGeom>
          <a:solidFill>
            <a:srgbClr val="9A1F3D"/>
          </a:solidFill>
          <a:ln/>
        </p:spPr>
      </p:sp>
      <p:sp>
        <p:nvSpPr>
          <p:cNvPr id="4" name="Text 2"/>
          <p:cNvSpPr/>
          <p:nvPr/>
        </p:nvSpPr>
        <p:spPr>
          <a:xfrm>
            <a:off x="457200" y="256032"/>
            <a:ext cx="11247120" cy="237744"/>
          </a:xfrm>
          <a:prstGeom prst="rect">
            <a:avLst/>
          </a:prstGeom>
          <a:noFill/>
          <a:ln/>
        </p:spPr>
        <p:txBody>
          <a:bodyPr wrap="square" lIns="0" tIns="0" rIns="0" bIns="0" rtlCol="0" anchor="ctr"/>
          <a:lstStyle/>
          <a:p>
            <a:pPr indent="0" marL="0">
              <a:buNone/>
            </a:pPr>
            <a:r>
              <a:rPr lang="en-US" sz="1200" b="1" dirty="0">
                <a:solidFill>
                  <a:srgbClr val="9A1F3D"/>
                </a:solidFill>
                <a:latin typeface="Calibri" pitchFamily="34" charset="0"/>
                <a:ea typeface="Calibri" pitchFamily="34" charset="-122"/>
                <a:cs typeface="Calibri" pitchFamily="34" charset="-120"/>
              </a:rPr>
              <a:t>NINE NEW VIDEOS</a:t>
            </a:r>
            <a:endParaRPr lang="en-US" sz="1200" dirty="0"/>
          </a:p>
        </p:txBody>
      </p:sp>
      <p:sp>
        <p:nvSpPr>
          <p:cNvPr id="5" name="Text 3"/>
          <p:cNvSpPr/>
          <p:nvPr/>
        </p:nvSpPr>
        <p:spPr>
          <a:xfrm>
            <a:off x="457200" y="475488"/>
            <a:ext cx="11247120" cy="420624"/>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From the EON Reality channel this weekend</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115568"/>
          <a:ext cx="11430000" cy="5212080"/>
        </p:xfrm>
        <a:graphic>
          <a:graphicData uri="http://schemas.openxmlformats.org/drawingml/2006/table">
            <a:tbl>
              <a:tblPr/>
              <a:tblGrid>
                <a:gridCol w="4114800"/>
                <a:gridCol w="3200400"/>
                <a:gridCol w="1188720"/>
                <a:gridCol w="2926080"/>
              </a:tblGrid>
              <a:tr h="52120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Video</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10306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Belongs with</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10306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Time</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10306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Watch</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103060"/>
                    </a:solidFill>
                  </a:tcPr>
                </a:tc>
              </a:tr>
              <a:tr h="521208">
                <a:tc>
                  <a:txBody>
                    <a:bodyPr/>
                    <a:lstStyle/>
                    <a:p>
                      <a:pPr indent="0" marL="0">
                        <a:buNone/>
                      </a:pPr>
                      <a:r>
                        <a:rPr lang="en-US" sz="1300" b="1" dirty="0">
                          <a:solidFill>
                            <a:srgbClr val="142033"/>
                          </a:solidFill>
                          <a:latin typeface="Calibri" pitchFamily="34" charset="0"/>
                          <a:ea typeface="Calibri" pitchFamily="34" charset="-122"/>
                          <a:cs typeface="Calibri" pitchFamily="34" charset="-120"/>
                        </a:rPr>
                        <a:t>EON XR Infinite Soft Skills</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indent="0" marL="0">
                        <a:buNone/>
                      </a:pPr>
                      <a:r>
                        <a:rPr lang="en-US" sz="1300" dirty="0">
                          <a:solidFill>
                            <a:srgbClr val="142033"/>
                          </a:solidFill>
                          <a:latin typeface="Calibri" pitchFamily="34" charset="0"/>
                          <a:ea typeface="Calibri" pitchFamily="34" charset="-122"/>
                          <a:cs typeface="Calibri" pitchFamily="34" charset="-120"/>
                        </a:rPr>
                        <a:t>EON XR Infinite</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033"/>
                          </a:solidFill>
                          <a:latin typeface="Calibri" pitchFamily="34" charset="0"/>
                          <a:ea typeface="Calibri" pitchFamily="34" charset="-122"/>
                          <a:cs typeface="Calibri" pitchFamily="34" charset="-120"/>
                        </a:rPr>
                        <a:t>2:59</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algn="ctr" indent="0" marL="0">
                        <a:buNone/>
                      </a:pPr>
                      <a:r>
                        <a:rPr lang="en-US" sz="1300" b="1" u="sng" dirty="0">
                          <a:solidFill>
                            <a:srgbClr val="9A1F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r>
              <a:tr h="521208">
                <a:tc>
                  <a:txBody>
                    <a:bodyPr/>
                    <a:lstStyle/>
                    <a:p>
                      <a:pPr indent="0" marL="0">
                        <a:buNone/>
                      </a:pPr>
                      <a:r>
                        <a:rPr lang="en-US" sz="1300" b="1" dirty="0">
                          <a:solidFill>
                            <a:srgbClr val="142033"/>
                          </a:solidFill>
                          <a:latin typeface="Calibri" pitchFamily="34" charset="0"/>
                          <a:ea typeface="Calibri" pitchFamily="34" charset="-122"/>
                          <a:cs typeface="Calibri" pitchFamily="34" charset="-120"/>
                        </a:rPr>
                        <a:t>Universal Mirror Studio</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c>
                  <a:txBody>
                    <a:bodyPr/>
                    <a:lstStyle/>
                    <a:p>
                      <a:pPr indent="0" marL="0">
                        <a:buNone/>
                      </a:pPr>
                      <a:r>
                        <a:rPr lang="en-US" sz="1300" dirty="0">
                          <a:solidFill>
                            <a:srgbClr val="142033"/>
                          </a:solidFill>
                          <a:latin typeface="Calibri" pitchFamily="34" charset="0"/>
                          <a:ea typeface="Calibri" pitchFamily="34" charset="-122"/>
                          <a:cs typeface="Calibri" pitchFamily="34" charset="-120"/>
                        </a:rPr>
                        <a:t>EON Universal</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c>
                  <a:txBody>
                    <a:bodyPr/>
                    <a:lstStyle/>
                    <a:p>
                      <a:pPr algn="ctr" indent="0" marL="0">
                        <a:buNone/>
                      </a:pPr>
                      <a:r>
                        <a:rPr lang="en-US" sz="1300" dirty="0">
                          <a:solidFill>
                            <a:srgbClr val="142033"/>
                          </a:solidFill>
                          <a:latin typeface="Calibri" pitchFamily="34" charset="0"/>
                          <a:ea typeface="Calibri" pitchFamily="34" charset="-122"/>
                          <a:cs typeface="Calibri" pitchFamily="34" charset="-120"/>
                        </a:rPr>
                        <a:t>4:45</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c>
                  <a:txBody>
                    <a:bodyPr/>
                    <a:lstStyle/>
                    <a:p>
                      <a:pPr algn="ctr" indent="0" marL="0">
                        <a:buNone/>
                      </a:pPr>
                      <a:r>
                        <a:rPr lang="en-US" sz="1300" b="1" u="sng" dirty="0">
                          <a:solidFill>
                            <a:srgbClr val="9A1F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r>
              <a:tr h="521208">
                <a:tc>
                  <a:txBody>
                    <a:bodyPr/>
                    <a:lstStyle/>
                    <a:p>
                      <a:pPr indent="0" marL="0">
                        <a:buNone/>
                      </a:pPr>
                      <a:r>
                        <a:rPr lang="en-US" sz="1300" b="1" dirty="0">
                          <a:solidFill>
                            <a:srgbClr val="142033"/>
                          </a:solidFill>
                          <a:latin typeface="Calibri" pitchFamily="34" charset="0"/>
                          <a:ea typeface="Calibri" pitchFamily="34" charset="-122"/>
                          <a:cs typeface="Calibri" pitchFamily="34" charset="-120"/>
                        </a:rPr>
                        <a:t>EON Control Room</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indent="0" marL="0">
                        <a:buNone/>
                      </a:pPr>
                      <a:r>
                        <a:rPr lang="en-US" sz="1300" dirty="0">
                          <a:solidFill>
                            <a:srgbClr val="142033"/>
                          </a:solidFill>
                          <a:latin typeface="Calibri" pitchFamily="34" charset="0"/>
                          <a:ea typeface="Calibri" pitchFamily="34" charset="-122"/>
                          <a:cs typeface="Calibri" pitchFamily="34" charset="-120"/>
                        </a:rPr>
                        <a:t>EON Control Room</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033"/>
                          </a:solidFill>
                          <a:latin typeface="Calibri" pitchFamily="34" charset="0"/>
                          <a:ea typeface="Calibri" pitchFamily="34" charset="-122"/>
                          <a:cs typeface="Calibri" pitchFamily="34" charset="-120"/>
                        </a:rPr>
                        <a:t>6:38</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algn="ctr" indent="0" marL="0">
                        <a:buNone/>
                      </a:pPr>
                      <a:r>
                        <a:rPr lang="en-US" sz="1300" b="1" u="sng" dirty="0">
                          <a:solidFill>
                            <a:srgbClr val="9A1F3D"/>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r>
              <a:tr h="521208">
                <a:tc>
                  <a:txBody>
                    <a:bodyPr/>
                    <a:lstStyle/>
                    <a:p>
                      <a:pPr indent="0" marL="0">
                        <a:buNone/>
                      </a:pPr>
                      <a:r>
                        <a:rPr lang="en-US" sz="1300" b="1" dirty="0">
                          <a:solidFill>
                            <a:srgbClr val="142033"/>
                          </a:solidFill>
                          <a:latin typeface="Calibri" pitchFamily="34" charset="0"/>
                          <a:ea typeface="Calibri" pitchFamily="34" charset="-122"/>
                          <a:cs typeface="Calibri" pitchFamily="34" charset="-120"/>
                        </a:rPr>
                        <a:t>Competence IQ</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c>
                  <a:txBody>
                    <a:bodyPr/>
                    <a:lstStyle/>
                    <a:p>
                      <a:pPr indent="0" marL="0">
                        <a:buNone/>
                      </a:pPr>
                      <a:r>
                        <a:rPr lang="en-US" sz="1300" dirty="0">
                          <a:solidFill>
                            <a:srgbClr val="142033"/>
                          </a:solidFill>
                          <a:latin typeface="Calibri" pitchFamily="34" charset="0"/>
                          <a:ea typeface="Calibri" pitchFamily="34" charset="-122"/>
                          <a:cs typeface="Calibri" pitchFamily="34" charset="-120"/>
                        </a:rPr>
                        <a:t>Shared strip</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c>
                  <a:txBody>
                    <a:bodyPr/>
                    <a:lstStyle/>
                    <a:p>
                      <a:pPr algn="ctr" indent="0" marL="0">
                        <a:buNone/>
                      </a:pPr>
                      <a:r>
                        <a:rPr lang="en-US" sz="1300" dirty="0">
                          <a:solidFill>
                            <a:srgbClr val="142033"/>
                          </a:solidFill>
                          <a:latin typeface="Calibri" pitchFamily="34" charset="0"/>
                          <a:ea typeface="Calibri" pitchFamily="34" charset="-122"/>
                          <a:cs typeface="Calibri" pitchFamily="34" charset="-120"/>
                        </a:rPr>
                        <a:t>5:08</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c>
                  <a:txBody>
                    <a:bodyPr/>
                    <a:lstStyle/>
                    <a:p>
                      <a:pPr algn="ctr" indent="0" marL="0">
                        <a:buNone/>
                      </a:pPr>
                      <a:r>
                        <a:rPr lang="en-US" sz="1300" b="1" u="sng" dirty="0">
                          <a:solidFill>
                            <a:srgbClr val="9A1F3D"/>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Open</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r>
              <a:tr h="521208">
                <a:tc>
                  <a:txBody>
                    <a:bodyPr/>
                    <a:lstStyle/>
                    <a:p>
                      <a:pPr indent="0" marL="0">
                        <a:buNone/>
                      </a:pPr>
                      <a:r>
                        <a:rPr lang="en-US" sz="1300" b="1" dirty="0">
                          <a:solidFill>
                            <a:srgbClr val="142033"/>
                          </a:solidFill>
                          <a:latin typeface="Calibri" pitchFamily="34" charset="0"/>
                          <a:ea typeface="Calibri" pitchFamily="34" charset="-122"/>
                          <a:cs typeface="Calibri" pitchFamily="34" charset="-120"/>
                        </a:rPr>
                        <a:t>EON Control</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indent="0" marL="0">
                        <a:buNone/>
                      </a:pPr>
                      <a:r>
                        <a:rPr lang="en-US" sz="1300" dirty="0">
                          <a:solidFill>
                            <a:srgbClr val="142033"/>
                          </a:solidFill>
                          <a:latin typeface="Calibri" pitchFamily="34" charset="0"/>
                          <a:ea typeface="Calibri" pitchFamily="34" charset="-122"/>
                          <a:cs typeface="Calibri" pitchFamily="34" charset="-120"/>
                        </a:rPr>
                        <a:t>Shared strip</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033"/>
                          </a:solidFill>
                          <a:latin typeface="Calibri" pitchFamily="34" charset="0"/>
                          <a:ea typeface="Calibri" pitchFamily="34" charset="-122"/>
                          <a:cs typeface="Calibri" pitchFamily="34" charset="-120"/>
                        </a:rPr>
                        <a:t>7:15</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algn="ctr" indent="0" marL="0">
                        <a:buNone/>
                      </a:pPr>
                      <a:r>
                        <a:rPr lang="en-US" sz="1300" b="1" u="sng" dirty="0">
                          <a:solidFill>
                            <a:srgbClr val="9A1F3D"/>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Open</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r>
              <a:tr h="521208">
                <a:tc>
                  <a:txBody>
                    <a:bodyPr/>
                    <a:lstStyle/>
                    <a:p>
                      <a:pPr indent="0" marL="0">
                        <a:buNone/>
                      </a:pPr>
                      <a:r>
                        <a:rPr lang="en-US" sz="1300" b="1" dirty="0">
                          <a:solidFill>
                            <a:srgbClr val="142033"/>
                          </a:solidFill>
                          <a:latin typeface="Calibri" pitchFamily="34" charset="0"/>
                          <a:ea typeface="Calibri" pitchFamily="34" charset="-122"/>
                          <a:cs typeface="Calibri" pitchFamily="34" charset="-120"/>
                        </a:rPr>
                        <a:t>The Distillery</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c>
                  <a:txBody>
                    <a:bodyPr/>
                    <a:lstStyle/>
                    <a:p>
                      <a:pPr indent="0" marL="0">
                        <a:buNone/>
                      </a:pPr>
                      <a:r>
                        <a:rPr lang="en-US" sz="1300" dirty="0">
                          <a:solidFill>
                            <a:srgbClr val="142033"/>
                          </a:solidFill>
                          <a:latin typeface="Calibri" pitchFamily="34" charset="0"/>
                          <a:ea typeface="Calibri" pitchFamily="34" charset="-122"/>
                          <a:cs typeface="Calibri" pitchFamily="34" charset="-120"/>
                        </a:rPr>
                        <a:t>The Distillery</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c>
                  <a:txBody>
                    <a:bodyPr/>
                    <a:lstStyle/>
                    <a:p>
                      <a:pPr algn="ctr" indent="0" marL="0">
                        <a:buNone/>
                      </a:pPr>
                      <a:r>
                        <a:rPr lang="en-US" sz="1300" dirty="0">
                          <a:solidFill>
                            <a:srgbClr val="142033"/>
                          </a:solidFill>
                          <a:latin typeface="Calibri" pitchFamily="34" charset="0"/>
                          <a:ea typeface="Calibri" pitchFamily="34" charset="-122"/>
                          <a:cs typeface="Calibri" pitchFamily="34" charset="-120"/>
                        </a:rPr>
                        <a:t>6:15</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c>
                  <a:txBody>
                    <a:bodyPr/>
                    <a:lstStyle/>
                    <a:p>
                      <a:pPr algn="ctr" indent="0" marL="0">
                        <a:buNone/>
                      </a:pPr>
                      <a:r>
                        <a:rPr lang="en-US" sz="1300" b="1" u="sng" dirty="0">
                          <a:solidFill>
                            <a:srgbClr val="9A1F3D"/>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Open</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r>
              <a:tr h="521208">
                <a:tc>
                  <a:txBody>
                    <a:bodyPr/>
                    <a:lstStyle/>
                    <a:p>
                      <a:pPr indent="0" marL="0">
                        <a:buNone/>
                      </a:pPr>
                      <a:r>
                        <a:rPr lang="en-US" sz="1300" b="1" dirty="0">
                          <a:solidFill>
                            <a:srgbClr val="142033"/>
                          </a:solidFill>
                          <a:latin typeface="Calibri" pitchFamily="34" charset="0"/>
                          <a:ea typeface="Calibri" pitchFamily="34" charset="-122"/>
                          <a:cs typeface="Calibri" pitchFamily="34" charset="-120"/>
                        </a:rPr>
                        <a:t>Compound IQ</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indent="0" marL="0">
                        <a:buNone/>
                      </a:pPr>
                      <a:r>
                        <a:rPr lang="en-US" sz="1300" dirty="0">
                          <a:solidFill>
                            <a:srgbClr val="142033"/>
                          </a:solidFill>
                          <a:latin typeface="Calibri" pitchFamily="34" charset="0"/>
                          <a:ea typeface="Calibri" pitchFamily="34" charset="-122"/>
                          <a:cs typeface="Calibri" pitchFamily="34" charset="-120"/>
                        </a:rPr>
                        <a:t>Compound IQ</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033"/>
                          </a:solidFill>
                          <a:latin typeface="Calibri" pitchFamily="34" charset="0"/>
                          <a:ea typeface="Calibri" pitchFamily="34" charset="-122"/>
                          <a:cs typeface="Calibri" pitchFamily="34" charset="-120"/>
                        </a:rPr>
                        <a:t>7:27</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algn="ctr" indent="0" marL="0">
                        <a:buNone/>
                      </a:pPr>
                      <a:r>
                        <a:rPr lang="en-US" sz="1300" b="1" u="sng" dirty="0">
                          <a:solidFill>
                            <a:srgbClr val="9A1F3D"/>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Open</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r>
              <a:tr h="521208">
                <a:tc>
                  <a:txBody>
                    <a:bodyPr/>
                    <a:lstStyle/>
                    <a:p>
                      <a:pPr indent="0" marL="0">
                        <a:buNone/>
                      </a:pPr>
                      <a:r>
                        <a:rPr lang="en-US" sz="1300" b="1" dirty="0">
                          <a:solidFill>
                            <a:srgbClr val="142033"/>
                          </a:solidFill>
                          <a:latin typeface="Calibri" pitchFamily="34" charset="0"/>
                          <a:ea typeface="Calibri" pitchFamily="34" charset="-122"/>
                          <a:cs typeface="Calibri" pitchFamily="34" charset="-120"/>
                        </a:rPr>
                        <a:t>Field IQ Edge</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c>
                  <a:txBody>
                    <a:bodyPr/>
                    <a:lstStyle/>
                    <a:p>
                      <a:pPr indent="0" marL="0">
                        <a:buNone/>
                      </a:pPr>
                      <a:r>
                        <a:rPr lang="en-US" sz="1300" dirty="0">
                          <a:solidFill>
                            <a:srgbClr val="142033"/>
                          </a:solidFill>
                          <a:latin typeface="Calibri" pitchFamily="34" charset="0"/>
                          <a:ea typeface="Calibri" pitchFamily="34" charset="-122"/>
                          <a:cs typeface="Calibri" pitchFamily="34" charset="-120"/>
                        </a:rPr>
                        <a:t>Field IQ Edge</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c>
                  <a:txBody>
                    <a:bodyPr/>
                    <a:lstStyle/>
                    <a:p>
                      <a:pPr algn="ctr" indent="0" marL="0">
                        <a:buNone/>
                      </a:pPr>
                      <a:r>
                        <a:rPr lang="en-US" sz="1300" dirty="0">
                          <a:solidFill>
                            <a:srgbClr val="142033"/>
                          </a:solidFill>
                          <a:latin typeface="Calibri" pitchFamily="34" charset="0"/>
                          <a:ea typeface="Calibri" pitchFamily="34" charset="-122"/>
                          <a:cs typeface="Calibri" pitchFamily="34" charset="-120"/>
                        </a:rPr>
                        <a:t>4:58</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c>
                  <a:txBody>
                    <a:bodyPr/>
                    <a:lstStyle/>
                    <a:p>
                      <a:pPr algn="ctr" indent="0" marL="0">
                        <a:buNone/>
                      </a:pPr>
                      <a:r>
                        <a:rPr lang="en-US" sz="1300" b="1" u="sng" dirty="0">
                          <a:solidFill>
                            <a:srgbClr val="9A1F3D"/>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Open</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BF6F7"/>
                    </a:solidFill>
                  </a:tcPr>
                </a:tc>
              </a:tr>
              <a:tr h="521208">
                <a:tc>
                  <a:txBody>
                    <a:bodyPr/>
                    <a:lstStyle/>
                    <a:p>
                      <a:pPr indent="0" marL="0">
                        <a:buNone/>
                      </a:pPr>
                      <a:r>
                        <a:rPr lang="en-US" sz="1300" b="1" dirty="0">
                          <a:solidFill>
                            <a:srgbClr val="142033"/>
                          </a:solidFill>
                          <a:latin typeface="Calibri" pitchFamily="34" charset="0"/>
                          <a:ea typeface="Calibri" pitchFamily="34" charset="-122"/>
                          <a:cs typeface="Calibri" pitchFamily="34" charset="-120"/>
                        </a:rPr>
                        <a:t>EON Model Inside Video</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indent="0" marL="0">
                        <a:buNone/>
                      </a:pPr>
                      <a:r>
                        <a:rPr lang="en-US" sz="1300" dirty="0">
                          <a:solidFill>
                            <a:srgbClr val="142033"/>
                          </a:solidFill>
                          <a:latin typeface="Calibri" pitchFamily="34" charset="0"/>
                          <a:ea typeface="Calibri" pitchFamily="34" charset="-122"/>
                          <a:cs typeface="Calibri" pitchFamily="34" charset="-120"/>
                        </a:rPr>
                        <a:t>The platform page</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033"/>
                          </a:solidFill>
                          <a:latin typeface="Calibri" pitchFamily="34" charset="0"/>
                          <a:ea typeface="Calibri" pitchFamily="34" charset="-122"/>
                          <a:cs typeface="Calibri" pitchFamily="34" charset="-120"/>
                        </a:rPr>
                        <a:t>5:57</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c>
                  <a:txBody>
                    <a:bodyPr/>
                    <a:lstStyle/>
                    <a:p>
                      <a:pPr algn="ctr" indent="0" marL="0">
                        <a:buNone/>
                      </a:pPr>
                      <a:r>
                        <a:rPr lang="en-US" sz="1300" b="1" u="sng" dirty="0">
                          <a:solidFill>
                            <a:srgbClr val="9A1F3D"/>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Open</a:t>
                      </a:r>
                      <a:endParaRPr lang="en-US" sz="1300" dirty="0">
                        <a:latin typeface="Calibri" charset="0"/>
                        <a:ea typeface="Calibri" charset="0"/>
                        <a:cs typeface="Calibri" charset="0"/>
                      </a:endParaRPr>
                    </a:p>
                  </a:txBody>
                  <a:tcPr marL="91440" marR="91440" marT="45720" marB="45720" anchor="ctr">
                    <a:lnL w="5080" cap="flat" cmpd="sng" algn="ctr">
                      <a:solidFill>
                        <a:srgbClr val="EADFE3"/>
                      </a:solidFill>
                      <a:prstDash val="solid"/>
                      <a:round/>
                      <a:headEnd type="none" w="med" len="med"/>
                      <a:tailEnd type="none" w="med" len="med"/>
                    </a:lnL>
                    <a:lnR w="5080" cap="flat" cmpd="sng" algn="ctr">
                      <a:solidFill>
                        <a:srgbClr val="EADFE3"/>
                      </a:solidFill>
                      <a:prstDash val="solid"/>
                      <a:round/>
                      <a:headEnd type="none" w="med" len="med"/>
                      <a:tailEnd type="none" w="med" len="med"/>
                    </a:lnR>
                    <a:lnT w="5080" cap="flat" cmpd="sng" algn="ctr">
                      <a:solidFill>
                        <a:srgbClr val="EADFE3"/>
                      </a:solidFill>
                      <a:prstDash val="solid"/>
                      <a:round/>
                      <a:headEnd type="none" w="med" len="med"/>
                      <a:tailEnd type="none" w="med" len="med"/>
                    </a:lnT>
                    <a:lnB w="5080" cap="flat" cmpd="sng" algn="ctr">
                      <a:solidFill>
                        <a:srgbClr val="EADFE3"/>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6547104"/>
            <a:ext cx="9326880" cy="201168"/>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EON Reality   ·   Website suggestion   ·   October 2026</a:t>
            </a:r>
            <a:endParaRPr lang="en-US" sz="1100" dirty="0"/>
          </a:p>
        </p:txBody>
      </p:sp>
      <p:sp>
        <p:nvSpPr>
          <p:cNvPr id="8" name="Text 5"/>
          <p:cNvSpPr/>
          <p:nvPr/>
        </p:nvSpPr>
        <p:spPr>
          <a:xfrm>
            <a:off x="10241280" y="6547104"/>
            <a:ext cx="1463040" cy="201168"/>
          </a:xfrm>
          <a:prstGeom prst="rect">
            <a:avLst/>
          </a:prstGeom>
          <a:noFill/>
          <a:ln/>
        </p:spPr>
        <p:txBody>
          <a:bodyPr wrap="square" lIns="0" tIns="0" rIns="0" bIns="0" rtlCol="0" anchor="ctr"/>
          <a:lstStyle/>
          <a:p>
            <a:pPr algn="r" indent="0" marL="0">
              <a:buNone/>
            </a:pPr>
            <a:r>
              <a:rPr lang="en-US" sz="1100" dirty="0">
                <a:solidFill>
                  <a:srgbClr val="5C6B7A"/>
                </a:solidFill>
                <a:latin typeface="Calibri" pitchFamily="34" charset="0"/>
                <a:ea typeface="Calibri" pitchFamily="34" charset="-122"/>
                <a:cs typeface="Calibri" pitchFamily="34" charset="-120"/>
              </a:rPr>
              <a:t>11  /  14</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F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3060"/>
          </a:solidFill>
          <a:ln/>
        </p:spPr>
      </p:sp>
      <p:sp>
        <p:nvSpPr>
          <p:cNvPr id="3" name="Shape 1"/>
          <p:cNvSpPr/>
          <p:nvPr/>
        </p:nvSpPr>
        <p:spPr>
          <a:xfrm>
            <a:off x="0" y="73152"/>
            <a:ext cx="12191695" cy="41148"/>
          </a:xfrm>
          <a:prstGeom prst="rect">
            <a:avLst/>
          </a:prstGeom>
          <a:solidFill>
            <a:srgbClr val="9A1F3D"/>
          </a:solidFill>
          <a:ln/>
        </p:spPr>
      </p:sp>
      <p:sp>
        <p:nvSpPr>
          <p:cNvPr id="4" name="Text 2"/>
          <p:cNvSpPr/>
          <p:nvPr/>
        </p:nvSpPr>
        <p:spPr>
          <a:xfrm>
            <a:off x="457200" y="256032"/>
            <a:ext cx="11247120" cy="237744"/>
          </a:xfrm>
          <a:prstGeom prst="rect">
            <a:avLst/>
          </a:prstGeom>
          <a:noFill/>
          <a:ln/>
        </p:spPr>
        <p:txBody>
          <a:bodyPr wrap="square" lIns="0" tIns="0" rIns="0" bIns="0" rtlCol="0" anchor="ctr"/>
          <a:lstStyle/>
          <a:p>
            <a:pPr indent="0" marL="0">
              <a:buNone/>
            </a:pPr>
            <a:r>
              <a:rPr lang="en-US" sz="1200" b="1" dirty="0">
                <a:solidFill>
                  <a:srgbClr val="9A1F3D"/>
                </a:solidFill>
                <a:latin typeface="Calibri" pitchFamily="34" charset="0"/>
                <a:ea typeface="Calibri" pitchFamily="34" charset="-122"/>
                <a:cs typeface="Calibri" pitchFamily="34" charset="-120"/>
              </a:rPr>
              <a:t>STILL TO UPDATE</a:t>
            </a:r>
            <a:endParaRPr lang="en-US" sz="1200" dirty="0"/>
          </a:p>
        </p:txBody>
      </p:sp>
      <p:sp>
        <p:nvSpPr>
          <p:cNvPr id="5" name="Text 3"/>
          <p:cNvSpPr/>
          <p:nvPr/>
        </p:nvSpPr>
        <p:spPr>
          <a:xfrm>
            <a:off x="457200" y="475488"/>
            <a:ext cx="11247120" cy="420624"/>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These are not done. They should stay visible.</a:t>
            </a:r>
            <a:endParaRPr lang="en-US" sz="2600" dirty="0"/>
          </a:p>
        </p:txBody>
      </p:sp>
      <p:sp>
        <p:nvSpPr>
          <p:cNvPr id="6" name="Shape 4"/>
          <p:cNvSpPr/>
          <p:nvPr/>
        </p:nvSpPr>
        <p:spPr>
          <a:xfrm>
            <a:off x="365760" y="1170432"/>
            <a:ext cx="5715000" cy="1554480"/>
          </a:xfrm>
          <a:prstGeom prst="roundRect">
            <a:avLst>
              <a:gd name="adj" fmla="val 4706"/>
            </a:avLst>
          </a:prstGeom>
          <a:solidFill>
            <a:srgbClr val="FFFFFF"/>
          </a:solidFill>
          <a:ln/>
          <a:effectLst>
            <a:outerShdw sx="100000" sy="100000" kx="0" ky="0" algn="bl" rotWithShape="0" blurRad="127000" dist="25400" dir="16200000">
              <a:srgbClr val="103060">
                <a:alpha val="8000"/>
              </a:srgbClr>
            </a:outerShdw>
          </a:effectLst>
        </p:spPr>
      </p:sp>
      <p:sp>
        <p:nvSpPr>
          <p:cNvPr id="7" name="Text 5"/>
          <p:cNvSpPr/>
          <p:nvPr/>
        </p:nvSpPr>
        <p:spPr>
          <a:xfrm>
            <a:off x="566928" y="1316736"/>
            <a:ext cx="5349240" cy="365760"/>
          </a:xfrm>
          <a:prstGeom prst="rect">
            <a:avLst/>
          </a:prstGeom>
          <a:noFill/>
          <a:ln/>
        </p:spPr>
        <p:txBody>
          <a:bodyPr wrap="square" lIns="0" tIns="0" rIns="0" bIns="0" rtlCol="0" anchor="ctr"/>
          <a:lstStyle/>
          <a:p>
            <a:pPr indent="0" marL="0">
              <a:buNone/>
            </a:pPr>
            <a:r>
              <a:rPr lang="en-US" sz="1500" b="1" dirty="0">
                <a:solidFill>
                  <a:srgbClr val="103060"/>
                </a:solidFill>
                <a:latin typeface="Calibri" pitchFamily="34" charset="0"/>
                <a:ea typeface="Calibri" pitchFamily="34" charset="-122"/>
                <a:cs typeface="Calibri" pitchFamily="34" charset="-120"/>
              </a:rPr>
              <a:t>Onward buttons on the long pages</a:t>
            </a:r>
            <a:endParaRPr lang="en-US" sz="1500" dirty="0"/>
          </a:p>
        </p:txBody>
      </p:sp>
      <p:sp>
        <p:nvSpPr>
          <p:cNvPr id="8" name="Text 6"/>
          <p:cNvSpPr/>
          <p:nvPr/>
        </p:nvSpPr>
        <p:spPr>
          <a:xfrm>
            <a:off x="566928" y="1719072"/>
            <a:ext cx="5349240" cy="841248"/>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Learn, Train, and Perform stories still offer buttons into live apps, TestFlight, Render, Drive, and temporary demos. The short menu already stops at the story. Those buttons are a later change.</a:t>
            </a:r>
            <a:endParaRPr lang="en-US" sz="1300" dirty="0"/>
          </a:p>
        </p:txBody>
      </p:sp>
      <p:sp>
        <p:nvSpPr>
          <p:cNvPr id="9" name="Shape 7"/>
          <p:cNvSpPr/>
          <p:nvPr/>
        </p:nvSpPr>
        <p:spPr>
          <a:xfrm>
            <a:off x="6263640" y="1170432"/>
            <a:ext cx="5715000" cy="1554480"/>
          </a:xfrm>
          <a:prstGeom prst="roundRect">
            <a:avLst>
              <a:gd name="adj" fmla="val 4706"/>
            </a:avLst>
          </a:prstGeom>
          <a:solidFill>
            <a:srgbClr val="FFFFFF"/>
          </a:solidFill>
          <a:ln/>
          <a:effectLst>
            <a:outerShdw sx="100000" sy="100000" kx="0" ky="0" algn="bl" rotWithShape="0" blurRad="127000" dist="25400" dir="16200000">
              <a:srgbClr val="103060">
                <a:alpha val="8000"/>
              </a:srgbClr>
            </a:outerShdw>
          </a:effectLst>
        </p:spPr>
      </p:sp>
      <p:sp>
        <p:nvSpPr>
          <p:cNvPr id="10" name="Text 8"/>
          <p:cNvSpPr/>
          <p:nvPr/>
        </p:nvSpPr>
        <p:spPr>
          <a:xfrm>
            <a:off x="6464808" y="1316736"/>
            <a:ext cx="5349240" cy="365760"/>
          </a:xfrm>
          <a:prstGeom prst="rect">
            <a:avLst/>
          </a:prstGeom>
          <a:noFill/>
          <a:ln/>
        </p:spPr>
        <p:txBody>
          <a:bodyPr wrap="square" lIns="0" tIns="0" rIns="0" bIns="0" rtlCol="0" anchor="ctr"/>
          <a:lstStyle/>
          <a:p>
            <a:pPr indent="0" marL="0">
              <a:buNone/>
            </a:pPr>
            <a:r>
              <a:rPr lang="en-US" sz="1500" b="1" dirty="0">
                <a:solidFill>
                  <a:srgbClr val="103060"/>
                </a:solidFill>
                <a:latin typeface="Calibri" pitchFamily="34" charset="0"/>
                <a:ea typeface="Calibri" pitchFamily="34" charset="-122"/>
                <a:cs typeface="Calibri" pitchFamily="34" charset="-120"/>
              </a:rPr>
              <a:t>Outcome pages on the long platform</a:t>
            </a:r>
            <a:endParaRPr lang="en-US" sz="1500" dirty="0"/>
          </a:p>
        </p:txBody>
      </p:sp>
      <p:sp>
        <p:nvSpPr>
          <p:cNvPr id="11" name="Text 9"/>
          <p:cNvSpPr/>
          <p:nvPr/>
        </p:nvSpPr>
        <p:spPr>
          <a:xfrm>
            <a:off x="6464808" y="1719072"/>
            <a:ext cx="5349240" cy="841248"/>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Career Compass, Venture Builder, AI Fluency, and Sentient Worlds are not pages there yet.</a:t>
            </a:r>
            <a:endParaRPr lang="en-US" sz="1300" dirty="0"/>
          </a:p>
        </p:txBody>
      </p:sp>
      <p:sp>
        <p:nvSpPr>
          <p:cNvPr id="12" name="Shape 10"/>
          <p:cNvSpPr/>
          <p:nvPr/>
        </p:nvSpPr>
        <p:spPr>
          <a:xfrm>
            <a:off x="365760" y="2862072"/>
            <a:ext cx="5715000" cy="1554480"/>
          </a:xfrm>
          <a:prstGeom prst="roundRect">
            <a:avLst>
              <a:gd name="adj" fmla="val 4706"/>
            </a:avLst>
          </a:prstGeom>
          <a:solidFill>
            <a:srgbClr val="FFFFFF"/>
          </a:solidFill>
          <a:ln/>
          <a:effectLst>
            <a:outerShdw sx="100000" sy="100000" kx="0" ky="0" algn="bl" rotWithShape="0" blurRad="127000" dist="25400" dir="16200000">
              <a:srgbClr val="103060">
                <a:alpha val="8000"/>
              </a:srgbClr>
            </a:outerShdw>
          </a:effectLst>
        </p:spPr>
      </p:sp>
      <p:sp>
        <p:nvSpPr>
          <p:cNvPr id="13" name="Text 11"/>
          <p:cNvSpPr/>
          <p:nvPr/>
        </p:nvSpPr>
        <p:spPr>
          <a:xfrm>
            <a:off x="566928" y="3008376"/>
            <a:ext cx="5349240" cy="365760"/>
          </a:xfrm>
          <a:prstGeom prst="rect">
            <a:avLst/>
          </a:prstGeom>
          <a:noFill/>
          <a:ln/>
        </p:spPr>
        <p:txBody>
          <a:bodyPr wrap="square" lIns="0" tIns="0" rIns="0" bIns="0" rtlCol="0" anchor="ctr"/>
          <a:lstStyle/>
          <a:p>
            <a:pPr indent="0" marL="0">
              <a:buNone/>
            </a:pPr>
            <a:r>
              <a:rPr lang="en-US" sz="1500" b="1" dirty="0">
                <a:solidFill>
                  <a:srgbClr val="103060"/>
                </a:solidFill>
                <a:latin typeface="Calibri" pitchFamily="34" charset="0"/>
                <a:ea typeface="Calibri" pitchFamily="34" charset="-122"/>
                <a:cs typeface="Calibri" pitchFamily="34" charset="-120"/>
              </a:rPr>
              <a:t>XR Infinite on the campus</a:t>
            </a:r>
            <a:endParaRPr lang="en-US" sz="1500" dirty="0"/>
          </a:p>
        </p:txBody>
      </p:sp>
      <p:sp>
        <p:nvSpPr>
          <p:cNvPr id="14" name="Text 12"/>
          <p:cNvSpPr/>
          <p:nvPr/>
        </p:nvSpPr>
        <p:spPr>
          <a:xfrm>
            <a:off x="566928" y="3410712"/>
            <a:ext cx="5349240" cy="841248"/>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The campus still presents EON XR models. Replacing them with XR Infinite is a campus change, and it is not done.</a:t>
            </a:r>
            <a:endParaRPr lang="en-US" sz="1300" dirty="0"/>
          </a:p>
        </p:txBody>
      </p:sp>
      <p:sp>
        <p:nvSpPr>
          <p:cNvPr id="15" name="Shape 13"/>
          <p:cNvSpPr/>
          <p:nvPr/>
        </p:nvSpPr>
        <p:spPr>
          <a:xfrm>
            <a:off x="6263640" y="2862072"/>
            <a:ext cx="5715000" cy="1554480"/>
          </a:xfrm>
          <a:prstGeom prst="roundRect">
            <a:avLst>
              <a:gd name="adj" fmla="val 4706"/>
            </a:avLst>
          </a:prstGeom>
          <a:solidFill>
            <a:srgbClr val="FFFFFF"/>
          </a:solidFill>
          <a:ln/>
          <a:effectLst>
            <a:outerShdw sx="100000" sy="100000" kx="0" ky="0" algn="bl" rotWithShape="0" blurRad="127000" dist="25400" dir="16200000">
              <a:srgbClr val="103060">
                <a:alpha val="8000"/>
              </a:srgbClr>
            </a:outerShdw>
          </a:effectLst>
        </p:spPr>
      </p:sp>
      <p:sp>
        <p:nvSpPr>
          <p:cNvPr id="16" name="Text 14"/>
          <p:cNvSpPr/>
          <p:nvPr/>
        </p:nvSpPr>
        <p:spPr>
          <a:xfrm>
            <a:off x="6464808" y="3008376"/>
            <a:ext cx="5349240" cy="365760"/>
          </a:xfrm>
          <a:prstGeom prst="rect">
            <a:avLst/>
          </a:prstGeom>
          <a:noFill/>
          <a:ln/>
        </p:spPr>
        <p:txBody>
          <a:bodyPr wrap="square" lIns="0" tIns="0" rIns="0" bIns="0" rtlCol="0" anchor="ctr"/>
          <a:lstStyle/>
          <a:p>
            <a:pPr indent="0" marL="0">
              <a:buNone/>
            </a:pPr>
            <a:r>
              <a:rPr lang="en-US" sz="1500" b="1" dirty="0">
                <a:solidFill>
                  <a:srgbClr val="103060"/>
                </a:solidFill>
                <a:latin typeface="Calibri" pitchFamily="34" charset="0"/>
                <a:ea typeface="Calibri" pitchFamily="34" charset="-122"/>
                <a:cs typeface="Calibri" pitchFamily="34" charset="-120"/>
              </a:rPr>
              <a:t>The nine videos</a:t>
            </a:r>
            <a:endParaRPr lang="en-US" sz="1500" dirty="0"/>
          </a:p>
        </p:txBody>
      </p:sp>
      <p:sp>
        <p:nvSpPr>
          <p:cNvPr id="17" name="Text 15"/>
          <p:cNvSpPr/>
          <p:nvPr/>
        </p:nvSpPr>
        <p:spPr>
          <a:xfrm>
            <a:off x="6464808" y="3410712"/>
            <a:ext cx="5349240" cy="841248"/>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They are not on the short menu. Each one belongs under the story on its long page. Model Inside belongs on the platform page.</a:t>
            </a:r>
            <a:endParaRPr lang="en-US" sz="1300" dirty="0"/>
          </a:p>
        </p:txBody>
      </p:sp>
      <p:sp>
        <p:nvSpPr>
          <p:cNvPr id="18" name="Shape 16"/>
          <p:cNvSpPr/>
          <p:nvPr/>
        </p:nvSpPr>
        <p:spPr>
          <a:xfrm>
            <a:off x="365760" y="4553712"/>
            <a:ext cx="5715000" cy="1554480"/>
          </a:xfrm>
          <a:prstGeom prst="roundRect">
            <a:avLst>
              <a:gd name="adj" fmla="val 4706"/>
            </a:avLst>
          </a:prstGeom>
          <a:solidFill>
            <a:srgbClr val="FFFFFF"/>
          </a:solidFill>
          <a:ln/>
          <a:effectLst>
            <a:outerShdw sx="100000" sy="100000" kx="0" ky="0" algn="bl" rotWithShape="0" blurRad="127000" dist="25400" dir="16200000">
              <a:srgbClr val="103060">
                <a:alpha val="8000"/>
              </a:srgbClr>
            </a:outerShdw>
          </a:effectLst>
        </p:spPr>
      </p:sp>
      <p:sp>
        <p:nvSpPr>
          <p:cNvPr id="19" name="Text 17"/>
          <p:cNvSpPr/>
          <p:nvPr/>
        </p:nvSpPr>
        <p:spPr>
          <a:xfrm>
            <a:off x="566928" y="4700016"/>
            <a:ext cx="5349240" cy="365760"/>
          </a:xfrm>
          <a:prstGeom prst="rect">
            <a:avLst/>
          </a:prstGeom>
          <a:noFill/>
          <a:ln/>
        </p:spPr>
        <p:txBody>
          <a:bodyPr wrap="square" lIns="0" tIns="0" rIns="0" bIns="0" rtlCol="0" anchor="ctr"/>
          <a:lstStyle/>
          <a:p>
            <a:pPr indent="0" marL="0">
              <a:buNone/>
            </a:pPr>
            <a:r>
              <a:rPr lang="en-US" sz="1500" b="1" dirty="0">
                <a:solidFill>
                  <a:srgbClr val="103060"/>
                </a:solidFill>
                <a:latin typeface="Calibri" pitchFamily="34" charset="0"/>
                <a:ea typeface="Calibri" pitchFamily="34" charset="-122"/>
                <a:cs typeface="Calibri" pitchFamily="34" charset="-120"/>
              </a:rPr>
              <a:t>Cinematic and customer names</a:t>
            </a:r>
            <a:endParaRPr lang="en-US" sz="1500" dirty="0"/>
          </a:p>
        </p:txBody>
      </p:sp>
      <p:sp>
        <p:nvSpPr>
          <p:cNvPr id="20" name="Text 18"/>
          <p:cNvSpPr/>
          <p:nvPr/>
        </p:nvSpPr>
        <p:spPr>
          <a:xfrm>
            <a:off x="566928" y="5102352"/>
            <a:ext cx="5349240" cy="841248"/>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Left for a separate pass. This deck does not rename those.</a:t>
            </a:r>
            <a:endParaRPr lang="en-US" sz="1300" dirty="0"/>
          </a:p>
        </p:txBody>
      </p:sp>
      <p:sp>
        <p:nvSpPr>
          <p:cNvPr id="21" name="Shape 19"/>
          <p:cNvSpPr/>
          <p:nvPr/>
        </p:nvSpPr>
        <p:spPr>
          <a:xfrm>
            <a:off x="6263640" y="4553712"/>
            <a:ext cx="5715000" cy="1554480"/>
          </a:xfrm>
          <a:prstGeom prst="roundRect">
            <a:avLst>
              <a:gd name="adj" fmla="val 4706"/>
            </a:avLst>
          </a:prstGeom>
          <a:solidFill>
            <a:srgbClr val="FFFFFF"/>
          </a:solidFill>
          <a:ln/>
          <a:effectLst>
            <a:outerShdw sx="100000" sy="100000" kx="0" ky="0" algn="bl" rotWithShape="0" blurRad="127000" dist="25400" dir="16200000">
              <a:srgbClr val="103060">
                <a:alpha val="8000"/>
              </a:srgbClr>
            </a:outerShdw>
          </a:effectLst>
        </p:spPr>
      </p:sp>
      <p:sp>
        <p:nvSpPr>
          <p:cNvPr id="22" name="Text 20"/>
          <p:cNvSpPr/>
          <p:nvPr/>
        </p:nvSpPr>
        <p:spPr>
          <a:xfrm>
            <a:off x="6464808" y="4700016"/>
            <a:ext cx="5349240" cy="365760"/>
          </a:xfrm>
          <a:prstGeom prst="rect">
            <a:avLst/>
          </a:prstGeom>
          <a:noFill/>
          <a:ln/>
        </p:spPr>
        <p:txBody>
          <a:bodyPr wrap="square" lIns="0" tIns="0" rIns="0" bIns="0" rtlCol="0" anchor="ctr"/>
          <a:lstStyle/>
          <a:p>
            <a:pPr indent="0" marL="0">
              <a:buNone/>
            </a:pPr>
            <a:r>
              <a:rPr lang="en-US" sz="1500" b="1" dirty="0">
                <a:solidFill>
                  <a:srgbClr val="103060"/>
                </a:solidFill>
                <a:latin typeface="Calibri" pitchFamily="34" charset="0"/>
                <a:ea typeface="Calibri" pitchFamily="34" charset="-122"/>
                <a:cs typeface="Calibri" pitchFamily="34" charset="-120"/>
              </a:rPr>
              <a:t>This is a preview</a:t>
            </a:r>
            <a:endParaRPr lang="en-US" sz="1500" dirty="0"/>
          </a:p>
        </p:txBody>
      </p:sp>
      <p:sp>
        <p:nvSpPr>
          <p:cNvPr id="23" name="Text 21"/>
          <p:cNvSpPr/>
          <p:nvPr/>
        </p:nvSpPr>
        <p:spPr>
          <a:xfrm>
            <a:off x="6464808" y="5102352"/>
            <a:ext cx="5349240" cy="841248"/>
          </a:xfrm>
          <a:prstGeom prst="rect">
            <a:avLst/>
          </a:prstGeom>
          <a:noFill/>
          <a:ln/>
        </p:spPr>
        <p:txBody>
          <a:bodyPr wrap="square" lIns="0" tIns="0" rIns="0" bIns="0" rtlCol="0" anchor="ctr"/>
          <a:lstStyle/>
          <a:p>
            <a:pPr indent="0" marL="0">
              <a:buNone/>
            </a:pPr>
            <a:r>
              <a:rPr lang="en-US" sz="1300" dirty="0">
                <a:solidFill>
                  <a:srgbClr val="142033"/>
                </a:solidFill>
                <a:latin typeface="Calibri" pitchFamily="34" charset="0"/>
                <a:ea typeface="Calibri" pitchFamily="34" charset="-122"/>
                <a:cs typeface="Calibri" pitchFamily="34" charset="-120"/>
              </a:rPr>
              <a:t>The suggestion link is a preview of the menu. It is not eonreality.com, and the platform is not the finished product.</a:t>
            </a:r>
            <a:endParaRPr lang="en-US" sz="1300" dirty="0"/>
          </a:p>
        </p:txBody>
      </p:sp>
      <p:sp>
        <p:nvSpPr>
          <p:cNvPr id="24" name="Text 22"/>
          <p:cNvSpPr/>
          <p:nvPr/>
        </p:nvSpPr>
        <p:spPr>
          <a:xfrm>
            <a:off x="457200" y="6547104"/>
            <a:ext cx="9326880" cy="201168"/>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EON Reality   ·   Website suggestion   ·   October 2026</a:t>
            </a:r>
            <a:endParaRPr lang="en-US" sz="1100" dirty="0"/>
          </a:p>
        </p:txBody>
      </p:sp>
      <p:sp>
        <p:nvSpPr>
          <p:cNvPr id="25" name="Text 23"/>
          <p:cNvSpPr/>
          <p:nvPr/>
        </p:nvSpPr>
        <p:spPr>
          <a:xfrm>
            <a:off x="10241280" y="6547104"/>
            <a:ext cx="1463040" cy="201168"/>
          </a:xfrm>
          <a:prstGeom prst="rect">
            <a:avLst/>
          </a:prstGeom>
          <a:noFill/>
          <a:ln/>
        </p:spPr>
        <p:txBody>
          <a:bodyPr wrap="square" lIns="0" tIns="0" rIns="0" bIns="0" rtlCol="0" anchor="ctr"/>
          <a:lstStyle/>
          <a:p>
            <a:pPr algn="r" indent="0" marL="0">
              <a:buNone/>
            </a:pPr>
            <a:r>
              <a:rPr lang="en-US" sz="1100" dirty="0">
                <a:solidFill>
                  <a:srgbClr val="5C6B7A"/>
                </a:solidFill>
                <a:latin typeface="Calibri" pitchFamily="34" charset="0"/>
                <a:ea typeface="Calibri" pitchFamily="34" charset="-122"/>
                <a:cs typeface="Calibri" pitchFamily="34" charset="-120"/>
              </a:rPr>
              <a:t>12  /  14</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F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3060"/>
          </a:solidFill>
          <a:ln/>
        </p:spPr>
      </p:sp>
      <p:sp>
        <p:nvSpPr>
          <p:cNvPr id="3" name="Shape 1"/>
          <p:cNvSpPr/>
          <p:nvPr/>
        </p:nvSpPr>
        <p:spPr>
          <a:xfrm>
            <a:off x="0" y="73152"/>
            <a:ext cx="12191695" cy="41148"/>
          </a:xfrm>
          <a:prstGeom prst="rect">
            <a:avLst/>
          </a:prstGeom>
          <a:solidFill>
            <a:srgbClr val="9A1F3D"/>
          </a:solidFill>
          <a:ln/>
        </p:spPr>
      </p:sp>
      <p:sp>
        <p:nvSpPr>
          <p:cNvPr id="4" name="Text 2"/>
          <p:cNvSpPr/>
          <p:nvPr/>
        </p:nvSpPr>
        <p:spPr>
          <a:xfrm>
            <a:off x="457200" y="256032"/>
            <a:ext cx="11247120" cy="237744"/>
          </a:xfrm>
          <a:prstGeom prst="rect">
            <a:avLst/>
          </a:prstGeom>
          <a:noFill/>
          <a:ln/>
        </p:spPr>
        <p:txBody>
          <a:bodyPr wrap="square" lIns="0" tIns="0" rIns="0" bIns="0" rtlCol="0" anchor="ctr"/>
          <a:lstStyle/>
          <a:p>
            <a:pPr indent="0" marL="0">
              <a:buNone/>
            </a:pPr>
            <a:r>
              <a:rPr lang="en-US" sz="1200" b="1" dirty="0">
                <a:solidFill>
                  <a:srgbClr val="9A1F3D"/>
                </a:solidFill>
                <a:latin typeface="Calibri" pitchFamily="34" charset="0"/>
                <a:ea typeface="Calibri" pitchFamily="34" charset="-122"/>
                <a:cs typeface="Calibri" pitchFamily="34" charset="-120"/>
              </a:rPr>
              <a:t>OPEN THESE</a:t>
            </a:r>
            <a:endParaRPr lang="en-US" sz="1200" dirty="0"/>
          </a:p>
        </p:txBody>
      </p:sp>
      <p:sp>
        <p:nvSpPr>
          <p:cNvPr id="5" name="Text 3"/>
          <p:cNvSpPr/>
          <p:nvPr/>
        </p:nvSpPr>
        <p:spPr>
          <a:xfrm>
            <a:off x="457200" y="475488"/>
            <a:ext cx="11247120" cy="420624"/>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The suggestion, the platform, and the campus</a:t>
            </a:r>
            <a:endParaRPr lang="en-US" sz="2600" dirty="0"/>
          </a:p>
        </p:txBody>
      </p:sp>
      <p:sp>
        <p:nvSpPr>
          <p:cNvPr id="6" name="Shape 4"/>
          <p:cNvSpPr/>
          <p:nvPr/>
        </p:nvSpPr>
        <p:spPr>
          <a:xfrm>
            <a:off x="411480" y="1170432"/>
            <a:ext cx="11338560" cy="1143000"/>
          </a:xfrm>
          <a:prstGeom prst="roundRect">
            <a:avLst>
              <a:gd name="adj" fmla="val 6400"/>
            </a:avLst>
          </a:prstGeom>
          <a:solidFill>
            <a:srgbClr val="FFFFFF"/>
          </a:solidFill>
          <a:ln/>
          <a:effectLst>
            <a:outerShdw sx="100000" sy="100000" kx="0" ky="0" algn="bl" rotWithShape="0" blurRad="127000" dist="25400" dir="16200000">
              <a:srgbClr val="103060">
                <a:alpha val="8000"/>
              </a:srgbClr>
            </a:outerShdw>
          </a:effectLst>
        </p:spPr>
      </p:sp>
      <p:sp>
        <p:nvSpPr>
          <p:cNvPr id="7" name="Text 5"/>
          <p:cNvSpPr/>
          <p:nvPr/>
        </p:nvSpPr>
        <p:spPr>
          <a:xfrm>
            <a:off x="640080" y="1335024"/>
            <a:ext cx="4846320" cy="292608"/>
          </a:xfrm>
          <a:prstGeom prst="rect">
            <a:avLst/>
          </a:prstGeom>
          <a:noFill/>
          <a:ln/>
        </p:spPr>
        <p:txBody>
          <a:bodyPr wrap="square" lIns="0" tIns="0" rIns="0" bIns="0" rtlCol="0" anchor="ctr"/>
          <a:lstStyle/>
          <a:p>
            <a:pPr indent="0" marL="0">
              <a:buNone/>
            </a:pPr>
            <a:r>
              <a:rPr lang="en-US" sz="1600" b="1" dirty="0">
                <a:solidFill>
                  <a:srgbClr val="103060"/>
                </a:solidFill>
                <a:latin typeface="Calibri" pitchFamily="34" charset="0"/>
                <a:ea typeface="Calibri" pitchFamily="34" charset="-122"/>
                <a:cs typeface="Calibri" pitchFamily="34" charset="-120"/>
              </a:rPr>
              <a:t>Suggestion page</a:t>
            </a:r>
            <a:endParaRPr lang="en-US" sz="1600" dirty="0"/>
          </a:p>
        </p:txBody>
      </p:sp>
      <p:sp>
        <p:nvSpPr>
          <p:cNvPr id="8" name="Text 6"/>
          <p:cNvSpPr/>
          <p:nvPr/>
        </p:nvSpPr>
        <p:spPr>
          <a:xfrm>
            <a:off x="640080" y="1682496"/>
            <a:ext cx="4846320" cy="420624"/>
          </a:xfrm>
          <a:prstGeom prst="rect">
            <a:avLst/>
          </a:prstGeom>
          <a:noFill/>
          <a:ln/>
        </p:spPr>
        <p:txBody>
          <a:bodyPr wrap="square" lIns="0" tIns="0" rIns="0" bIns="0" rtlCol="0" anchor="ctr"/>
          <a:lstStyle/>
          <a:p>
            <a:pPr indent="0" marL="0">
              <a:buNone/>
            </a:pPr>
            <a:r>
              <a:rPr lang="en-US" sz="1300" dirty="0">
                <a:solidFill>
                  <a:srgbClr val="5C6B7A"/>
                </a:solidFill>
                <a:latin typeface="Calibri" pitchFamily="34" charset="0"/>
                <a:ea typeface="Calibri" pitchFamily="34" charset="-122"/>
                <a:cs typeface="Calibri" pitchFamily="34" charset="-120"/>
              </a:rPr>
              <a:t>The new short menu. Public for about an hour.</a:t>
            </a:r>
            <a:endParaRPr lang="en-US" sz="1300" dirty="0"/>
          </a:p>
        </p:txBody>
      </p:sp>
      <p:sp>
        <p:nvSpPr>
          <p:cNvPr id="9" name="Text 7">
            <a:hlinkClick r:id="rId1" tooltip=""/>
          </p:cNvPr>
          <p:cNvSpPr/>
          <p:nvPr/>
        </p:nvSpPr>
        <p:spPr>
          <a:xfrm>
            <a:off x="5623560" y="1371600"/>
            <a:ext cx="5852160" cy="749808"/>
          </a:xfrm>
          <a:prstGeom prst="rect">
            <a:avLst/>
          </a:prstGeom>
          <a:noFill/>
          <a:ln/>
        </p:spPr>
        <p:txBody>
          <a:bodyPr wrap="square" lIns="0" tIns="0" rIns="0" bIns="0" rtlCol="0" anchor="ctr"/>
          <a:lstStyle/>
          <a:p>
            <a:pPr indent="0" marL="0">
              <a:buNone/>
            </a:pPr>
            <a:r>
              <a:rPr lang="en-US" sz="1400" u="sng" dirty="0">
                <a:solidFill>
                  <a:srgbClr val="9A1F3D"/>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temporary-sonic-indigo-vj9wu0l.vercel.app</a:t>
            </a:r>
            <a:endParaRPr lang="en-US" sz="1400" dirty="0"/>
          </a:p>
        </p:txBody>
      </p:sp>
      <p:sp>
        <p:nvSpPr>
          <p:cNvPr id="10" name="Shape 8"/>
          <p:cNvSpPr/>
          <p:nvPr/>
        </p:nvSpPr>
        <p:spPr>
          <a:xfrm>
            <a:off x="411480" y="2432304"/>
            <a:ext cx="11338560" cy="1143000"/>
          </a:xfrm>
          <a:prstGeom prst="roundRect">
            <a:avLst>
              <a:gd name="adj" fmla="val 6400"/>
            </a:avLst>
          </a:prstGeom>
          <a:solidFill>
            <a:srgbClr val="FFFFFF"/>
          </a:solidFill>
          <a:ln/>
          <a:effectLst>
            <a:outerShdw sx="100000" sy="100000" kx="0" ky="0" algn="bl" rotWithShape="0" blurRad="127000" dist="25400" dir="16200000">
              <a:srgbClr val="103060">
                <a:alpha val="8000"/>
              </a:srgbClr>
            </a:outerShdw>
          </a:effectLst>
        </p:spPr>
      </p:sp>
      <p:sp>
        <p:nvSpPr>
          <p:cNvPr id="11" name="Text 9"/>
          <p:cNvSpPr/>
          <p:nvPr/>
        </p:nvSpPr>
        <p:spPr>
          <a:xfrm>
            <a:off x="640080" y="2596896"/>
            <a:ext cx="4846320" cy="292608"/>
          </a:xfrm>
          <a:prstGeom prst="rect">
            <a:avLst/>
          </a:prstGeom>
          <a:noFill/>
          <a:ln/>
        </p:spPr>
        <p:txBody>
          <a:bodyPr wrap="square" lIns="0" tIns="0" rIns="0" bIns="0" rtlCol="0" anchor="ctr"/>
          <a:lstStyle/>
          <a:p>
            <a:pPr indent="0" marL="0">
              <a:buNone/>
            </a:pPr>
            <a:r>
              <a:rPr lang="en-US" sz="1600" b="1" dirty="0">
                <a:solidFill>
                  <a:srgbClr val="103060"/>
                </a:solidFill>
                <a:latin typeface="Calibri" pitchFamily="34" charset="0"/>
                <a:ea typeface="Calibri" pitchFamily="34" charset="-122"/>
                <a:cs typeface="Calibri" pitchFamily="34" charset="-120"/>
              </a:rPr>
              <a:t>Same page, signed in</a:t>
            </a:r>
            <a:endParaRPr lang="en-US" sz="1600" dirty="0"/>
          </a:p>
        </p:txBody>
      </p:sp>
      <p:sp>
        <p:nvSpPr>
          <p:cNvPr id="12" name="Text 10"/>
          <p:cNvSpPr/>
          <p:nvPr/>
        </p:nvSpPr>
        <p:spPr>
          <a:xfrm>
            <a:off x="640080" y="2944368"/>
            <a:ext cx="4846320" cy="420624"/>
          </a:xfrm>
          <a:prstGeom prst="rect">
            <a:avLst/>
          </a:prstGeom>
          <a:noFill/>
          <a:ln/>
        </p:spPr>
        <p:txBody>
          <a:bodyPr wrap="square" lIns="0" tIns="0" rIns="0" bIns="0" rtlCol="0" anchor="ctr"/>
          <a:lstStyle/>
          <a:p>
            <a:pPr indent="0" marL="0">
              <a:buNone/>
            </a:pPr>
            <a:r>
              <a:rPr lang="en-US" sz="1300" dirty="0">
                <a:solidFill>
                  <a:srgbClr val="5C6B7A"/>
                </a:solidFill>
                <a:latin typeface="Calibri" pitchFamily="34" charset="0"/>
                <a:ea typeface="Calibri" pitchFamily="34" charset="-122"/>
                <a:cs typeface="Calibri" pitchFamily="34" charset="-120"/>
              </a:rPr>
              <a:t>The lasting preview on the existing project.</a:t>
            </a:r>
            <a:endParaRPr lang="en-US" sz="1300" dirty="0"/>
          </a:p>
        </p:txBody>
      </p:sp>
      <p:sp>
        <p:nvSpPr>
          <p:cNvPr id="13" name="Text 11">
            <a:hlinkClick r:id="rId2" tooltip=""/>
          </p:cNvPr>
          <p:cNvSpPr/>
          <p:nvPr/>
        </p:nvSpPr>
        <p:spPr>
          <a:xfrm>
            <a:off x="5623560" y="2633472"/>
            <a:ext cx="5852160" cy="749808"/>
          </a:xfrm>
          <a:prstGeom prst="rect">
            <a:avLst/>
          </a:prstGeom>
          <a:noFill/>
          <a:ln/>
        </p:spPr>
        <p:txBody>
          <a:bodyPr wrap="square" lIns="0" tIns="0" rIns="0" bIns="0" rtlCol="0" anchor="ctr"/>
          <a:lstStyle/>
          <a:p>
            <a:pPr indent="0" marL="0">
              <a:buNone/>
            </a:pPr>
            <a:r>
              <a:rPr lang="en-US" sz="1400" u="sng" dirty="0">
                <a:solidFill>
                  <a:srgbClr val="9A1F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/eon-product-overview/</a:t>
            </a:r>
            <a:endParaRPr lang="en-US" sz="1400" dirty="0"/>
          </a:p>
          <a:p>
            <a:pPr indent="0" marL="0">
              <a:buNone/>
            </a:pPr>
            <a:r>
              <a:rPr lang="en-US" sz="1400" u="sng" dirty="0">
                <a:solidFill>
                  <a:srgbClr val="9A1F3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on the field-iq-walkthrough preview</a:t>
            </a:r>
            <a:endParaRPr lang="en-US" sz="1400" dirty="0"/>
          </a:p>
        </p:txBody>
      </p:sp>
      <p:sp>
        <p:nvSpPr>
          <p:cNvPr id="14" name="Shape 12"/>
          <p:cNvSpPr/>
          <p:nvPr/>
        </p:nvSpPr>
        <p:spPr>
          <a:xfrm>
            <a:off x="411480" y="3694176"/>
            <a:ext cx="11338560" cy="1143000"/>
          </a:xfrm>
          <a:prstGeom prst="roundRect">
            <a:avLst>
              <a:gd name="adj" fmla="val 6400"/>
            </a:avLst>
          </a:prstGeom>
          <a:solidFill>
            <a:srgbClr val="FFFFFF"/>
          </a:solidFill>
          <a:ln/>
          <a:effectLst>
            <a:outerShdw sx="100000" sy="100000" kx="0" ky="0" algn="bl" rotWithShape="0" blurRad="127000" dist="25400" dir="16200000">
              <a:srgbClr val="103060">
                <a:alpha val="8000"/>
              </a:srgbClr>
            </a:outerShdw>
          </a:effectLst>
        </p:spPr>
      </p:sp>
      <p:sp>
        <p:nvSpPr>
          <p:cNvPr id="15" name="Text 13"/>
          <p:cNvSpPr/>
          <p:nvPr/>
        </p:nvSpPr>
        <p:spPr>
          <a:xfrm>
            <a:off x="640080" y="3858768"/>
            <a:ext cx="4846320" cy="292608"/>
          </a:xfrm>
          <a:prstGeom prst="rect">
            <a:avLst/>
          </a:prstGeom>
          <a:noFill/>
          <a:ln/>
        </p:spPr>
        <p:txBody>
          <a:bodyPr wrap="square" lIns="0" tIns="0" rIns="0" bIns="0" rtlCol="0" anchor="ctr"/>
          <a:lstStyle/>
          <a:p>
            <a:pPr indent="0" marL="0">
              <a:buNone/>
            </a:pPr>
            <a:r>
              <a:rPr lang="en-US" sz="1600" b="1" dirty="0">
                <a:solidFill>
                  <a:srgbClr val="103060"/>
                </a:solidFill>
                <a:latin typeface="Calibri" pitchFamily="34" charset="0"/>
                <a:ea typeface="Calibri" pitchFamily="34" charset="-122"/>
                <a:cs typeface="Calibri" pitchFamily="34" charset="-120"/>
              </a:rPr>
              <a:t>The platform</a:t>
            </a:r>
            <a:endParaRPr lang="en-US" sz="1600" dirty="0"/>
          </a:p>
        </p:txBody>
      </p:sp>
      <p:sp>
        <p:nvSpPr>
          <p:cNvPr id="16" name="Text 14"/>
          <p:cNvSpPr/>
          <p:nvPr/>
        </p:nvSpPr>
        <p:spPr>
          <a:xfrm>
            <a:off x="640080" y="4206240"/>
            <a:ext cx="4846320" cy="420624"/>
          </a:xfrm>
          <a:prstGeom prst="rect">
            <a:avLst/>
          </a:prstGeom>
          <a:noFill/>
          <a:ln/>
        </p:spPr>
        <p:txBody>
          <a:bodyPr wrap="square" lIns="0" tIns="0" rIns="0" bIns="0" rtlCol="0" anchor="ctr"/>
          <a:lstStyle/>
          <a:p>
            <a:pPr indent="0" marL="0">
              <a:buNone/>
            </a:pPr>
            <a:r>
              <a:rPr lang="en-US" sz="1300" dirty="0">
                <a:solidFill>
                  <a:srgbClr val="5C6B7A"/>
                </a:solidFill>
                <a:latin typeface="Calibri" pitchFamily="34" charset="0"/>
                <a:ea typeface="Calibri" pitchFamily="34" charset="-122"/>
                <a:cs typeface="Calibri" pitchFamily="34" charset="-120"/>
              </a:rPr>
              <a:t>The long story behind Learn, Train, and Perform.</a:t>
            </a:r>
            <a:endParaRPr lang="en-US" sz="1300" dirty="0"/>
          </a:p>
        </p:txBody>
      </p:sp>
      <p:sp>
        <p:nvSpPr>
          <p:cNvPr id="17" name="Text 15">
            <a:hlinkClick r:id="rId3" tooltip=""/>
          </p:cNvPr>
          <p:cNvSpPr/>
          <p:nvPr/>
        </p:nvSpPr>
        <p:spPr>
          <a:xfrm>
            <a:off x="5623560" y="3895344"/>
            <a:ext cx="5852160" cy="749808"/>
          </a:xfrm>
          <a:prstGeom prst="rect">
            <a:avLst/>
          </a:prstGeom>
          <a:noFill/>
          <a:ln/>
        </p:spPr>
        <p:txBody>
          <a:bodyPr wrap="square" lIns="0" tIns="0" rIns="0" bIns="0" rtlCol="0" anchor="ctr"/>
          <a:lstStyle/>
          <a:p>
            <a:pPr indent="0" marL="0">
              <a:buNone/>
            </a:pPr>
            <a:r>
              <a:rPr lang="en-US" sz="1400" u="sng" dirty="0">
                <a:solidFill>
                  <a:srgbClr val="9A1F3D"/>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eon-education-government-review</a:t>
            </a:r>
            <a:endParaRPr lang="en-US" sz="1400" dirty="0"/>
          </a:p>
          <a:p>
            <a:pPr indent="0" marL="0">
              <a:buNone/>
            </a:pPr>
            <a:r>
              <a:rPr lang="en-US" sz="1400" u="sng" dirty="0">
                <a:solidFill>
                  <a:srgbClr val="9A1F3D"/>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.vercel.app/#products</a:t>
            </a:r>
            <a:endParaRPr lang="en-US" sz="1400" dirty="0"/>
          </a:p>
        </p:txBody>
      </p:sp>
      <p:sp>
        <p:nvSpPr>
          <p:cNvPr id="18" name="Shape 16"/>
          <p:cNvSpPr/>
          <p:nvPr/>
        </p:nvSpPr>
        <p:spPr>
          <a:xfrm>
            <a:off x="411480" y="4956048"/>
            <a:ext cx="11338560" cy="1143000"/>
          </a:xfrm>
          <a:prstGeom prst="roundRect">
            <a:avLst>
              <a:gd name="adj" fmla="val 6400"/>
            </a:avLst>
          </a:prstGeom>
          <a:solidFill>
            <a:srgbClr val="FFFFFF"/>
          </a:solidFill>
          <a:ln/>
          <a:effectLst>
            <a:outerShdw sx="100000" sy="100000" kx="0" ky="0" algn="bl" rotWithShape="0" blurRad="127000" dist="25400" dir="16200000">
              <a:srgbClr val="103060">
                <a:alpha val="8000"/>
              </a:srgbClr>
            </a:outerShdw>
          </a:effectLst>
        </p:spPr>
      </p:sp>
      <p:sp>
        <p:nvSpPr>
          <p:cNvPr id="19" name="Text 17"/>
          <p:cNvSpPr/>
          <p:nvPr/>
        </p:nvSpPr>
        <p:spPr>
          <a:xfrm>
            <a:off x="640080" y="5120640"/>
            <a:ext cx="4846320" cy="292608"/>
          </a:xfrm>
          <a:prstGeom prst="rect">
            <a:avLst/>
          </a:prstGeom>
          <a:noFill/>
          <a:ln/>
        </p:spPr>
        <p:txBody>
          <a:bodyPr wrap="square" lIns="0" tIns="0" rIns="0" bIns="0" rtlCol="0" anchor="ctr"/>
          <a:lstStyle/>
          <a:p>
            <a:pPr indent="0" marL="0">
              <a:buNone/>
            </a:pPr>
            <a:r>
              <a:rPr lang="en-US" sz="1600" b="1" dirty="0">
                <a:solidFill>
                  <a:srgbClr val="103060"/>
                </a:solidFill>
                <a:latin typeface="Calibri" pitchFamily="34" charset="0"/>
                <a:ea typeface="Calibri" pitchFamily="34" charset="-122"/>
                <a:cs typeface="Calibri" pitchFamily="34" charset="-120"/>
              </a:rPr>
              <a:t>Global Virtual Campus</a:t>
            </a:r>
            <a:endParaRPr lang="en-US" sz="1600" dirty="0"/>
          </a:p>
        </p:txBody>
      </p:sp>
      <p:sp>
        <p:nvSpPr>
          <p:cNvPr id="20" name="Text 18"/>
          <p:cNvSpPr/>
          <p:nvPr/>
        </p:nvSpPr>
        <p:spPr>
          <a:xfrm>
            <a:off x="640080" y="5468112"/>
            <a:ext cx="4846320" cy="420624"/>
          </a:xfrm>
          <a:prstGeom prst="rect">
            <a:avLst/>
          </a:prstGeom>
          <a:noFill/>
          <a:ln/>
        </p:spPr>
        <p:txBody>
          <a:bodyPr wrap="square" lIns="0" tIns="0" rIns="0" bIns="0" rtlCol="0" anchor="ctr"/>
          <a:lstStyle/>
          <a:p>
            <a:pPr indent="0" marL="0">
              <a:buNone/>
            </a:pPr>
            <a:r>
              <a:rPr lang="en-US" sz="1300" dirty="0">
                <a:solidFill>
                  <a:srgbClr val="5C6B7A"/>
                </a:solidFill>
                <a:latin typeface="Calibri" pitchFamily="34" charset="0"/>
                <a:ea typeface="Calibri" pitchFamily="34" charset="-122"/>
                <a:cs typeface="Calibri" pitchFamily="34" charset="-120"/>
              </a:rPr>
              <a:t>Where a learner continues.</a:t>
            </a:r>
            <a:endParaRPr lang="en-US" sz="1300" dirty="0"/>
          </a:p>
        </p:txBody>
      </p:sp>
      <p:sp>
        <p:nvSpPr>
          <p:cNvPr id="21" name="Text 19">
            <a:hlinkClick r:id="rId4" tooltip=""/>
          </p:cNvPr>
          <p:cNvSpPr/>
          <p:nvPr/>
        </p:nvSpPr>
        <p:spPr>
          <a:xfrm>
            <a:off x="5623560" y="5157216"/>
            <a:ext cx="5852160" cy="749808"/>
          </a:xfrm>
          <a:prstGeom prst="rect">
            <a:avLst/>
          </a:prstGeom>
          <a:noFill/>
          <a:ln/>
        </p:spPr>
        <p:txBody>
          <a:bodyPr wrap="square" lIns="0" tIns="0" rIns="0" bIns="0" rtlCol="0" anchor="ctr"/>
          <a:lstStyle/>
          <a:p>
            <a:pPr indent="0" marL="0">
              <a:buNone/>
            </a:pPr>
            <a:r>
              <a:rPr lang="en-US" sz="1400" u="sng" dirty="0">
                <a:solidFill>
                  <a:srgbClr val="9A1F3D"/>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eonglobalcampus.com</a:t>
            </a:r>
            <a:endParaRPr lang="en-US" sz="1400" dirty="0"/>
          </a:p>
        </p:txBody>
      </p:sp>
      <p:sp>
        <p:nvSpPr>
          <p:cNvPr id="22" name="Text 20"/>
          <p:cNvSpPr/>
          <p:nvPr/>
        </p:nvSpPr>
        <p:spPr>
          <a:xfrm>
            <a:off x="457200" y="6547104"/>
            <a:ext cx="9326880" cy="201168"/>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EON Reality   ·   Website suggestion   ·   October 2026</a:t>
            </a:r>
            <a:endParaRPr lang="en-US" sz="1100" dirty="0"/>
          </a:p>
        </p:txBody>
      </p:sp>
      <p:sp>
        <p:nvSpPr>
          <p:cNvPr id="23" name="Text 21"/>
          <p:cNvSpPr/>
          <p:nvPr/>
        </p:nvSpPr>
        <p:spPr>
          <a:xfrm>
            <a:off x="10241280" y="6547104"/>
            <a:ext cx="1463040" cy="201168"/>
          </a:xfrm>
          <a:prstGeom prst="rect">
            <a:avLst/>
          </a:prstGeom>
          <a:noFill/>
          <a:ln/>
        </p:spPr>
        <p:txBody>
          <a:bodyPr wrap="square" lIns="0" tIns="0" rIns="0" bIns="0" rtlCol="0" anchor="ctr"/>
          <a:lstStyle/>
          <a:p>
            <a:pPr algn="r" indent="0" marL="0">
              <a:buNone/>
            </a:pPr>
            <a:r>
              <a:rPr lang="en-US" sz="1100" dirty="0">
                <a:solidFill>
                  <a:srgbClr val="5C6B7A"/>
                </a:solidFill>
                <a:latin typeface="Calibri" pitchFamily="34" charset="0"/>
                <a:ea typeface="Calibri" pitchFamily="34" charset="-122"/>
                <a:cs typeface="Calibri" pitchFamily="34" charset="-120"/>
              </a:rPr>
              <a:t>13  /  14</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3F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103060"/>
          </a:solidFill>
          <a:ln/>
        </p:spPr>
      </p:sp>
      <p:sp>
        <p:nvSpPr>
          <p:cNvPr id="3" name="Shape 1"/>
          <p:cNvSpPr/>
          <p:nvPr/>
        </p:nvSpPr>
        <p:spPr>
          <a:xfrm>
            <a:off x="0" y="73152"/>
            <a:ext cx="12191695" cy="41148"/>
          </a:xfrm>
          <a:prstGeom prst="rect">
            <a:avLst/>
          </a:prstGeom>
          <a:solidFill>
            <a:srgbClr val="9A1F3D"/>
          </a:solidFill>
          <a:ln/>
        </p:spPr>
      </p:sp>
      <p:sp>
        <p:nvSpPr>
          <p:cNvPr id="4" name="Text 2"/>
          <p:cNvSpPr/>
          <p:nvPr/>
        </p:nvSpPr>
        <p:spPr>
          <a:xfrm>
            <a:off x="457200" y="256032"/>
            <a:ext cx="11247120" cy="237744"/>
          </a:xfrm>
          <a:prstGeom prst="rect">
            <a:avLst/>
          </a:prstGeom>
          <a:noFill/>
          <a:ln/>
        </p:spPr>
        <p:txBody>
          <a:bodyPr wrap="square" lIns="0" tIns="0" rIns="0" bIns="0" rtlCol="0" anchor="ctr"/>
          <a:lstStyle/>
          <a:p>
            <a:pPr indent="0" marL="0">
              <a:buNone/>
            </a:pPr>
            <a:r>
              <a:rPr lang="en-US" sz="1200" b="1" dirty="0">
                <a:solidFill>
                  <a:srgbClr val="9A1F3D"/>
                </a:solidFill>
                <a:latin typeface="Calibri" pitchFamily="34" charset="0"/>
                <a:ea typeface="Calibri" pitchFamily="34" charset="-122"/>
                <a:cs typeface="Calibri" pitchFamily="34" charset="-120"/>
              </a:rPr>
              <a:t>COVER EMAIL</a:t>
            </a:r>
            <a:endParaRPr lang="en-US" sz="1200" dirty="0"/>
          </a:p>
        </p:txBody>
      </p:sp>
      <p:sp>
        <p:nvSpPr>
          <p:cNvPr id="5" name="Text 3"/>
          <p:cNvSpPr/>
          <p:nvPr/>
        </p:nvSpPr>
        <p:spPr>
          <a:xfrm>
            <a:off x="457200" y="475488"/>
            <a:ext cx="11247120" cy="420624"/>
          </a:xfrm>
          <a:prstGeom prst="rect">
            <a:avLst/>
          </a:prstGeom>
          <a:noFill/>
          <a:ln/>
        </p:spPr>
        <p:txBody>
          <a:bodyPr wrap="square" lIns="0" tIns="0" rIns="0" bIns="0" rtlCol="0" anchor="ctr"/>
          <a:lstStyle/>
          <a:p>
            <a:pPr indent="0" marL="0">
              <a:buNone/>
            </a:pPr>
            <a:r>
              <a:rPr lang="en-US" sz="2600" b="1" dirty="0">
                <a:solidFill>
                  <a:srgbClr val="103060"/>
                </a:solidFill>
                <a:latin typeface="Calibri" pitchFamily="34" charset="0"/>
                <a:ea typeface="Calibri" pitchFamily="34" charset="-122"/>
                <a:cs typeface="Calibri" pitchFamily="34" charset="-120"/>
              </a:rPr>
              <a:t>A note you can send to start the conversation</a:t>
            </a:r>
            <a:endParaRPr lang="en-US" sz="2600" dirty="0"/>
          </a:p>
        </p:txBody>
      </p:sp>
      <p:sp>
        <p:nvSpPr>
          <p:cNvPr id="6" name="Shape 4"/>
          <p:cNvSpPr/>
          <p:nvPr/>
        </p:nvSpPr>
        <p:spPr>
          <a:xfrm>
            <a:off x="365760" y="1097280"/>
            <a:ext cx="11430000" cy="5257800"/>
          </a:xfrm>
          <a:prstGeom prst="roundRect">
            <a:avLst>
              <a:gd name="adj" fmla="val 1391"/>
            </a:avLst>
          </a:prstGeom>
          <a:solidFill>
            <a:srgbClr val="FFFFFF"/>
          </a:solidFill>
          <a:ln/>
          <a:effectLst>
            <a:outerShdw sx="100000" sy="100000" kx="0" ky="0" algn="bl" rotWithShape="0" blurRad="127000" dist="25400" dir="16200000">
              <a:srgbClr val="103060">
                <a:alpha val="8000"/>
              </a:srgbClr>
            </a:outerShdw>
          </a:effectLst>
        </p:spPr>
      </p:sp>
      <p:sp>
        <p:nvSpPr>
          <p:cNvPr id="7" name="Text 5"/>
          <p:cNvSpPr/>
          <p:nvPr/>
        </p:nvSpPr>
        <p:spPr>
          <a:xfrm>
            <a:off x="594360" y="1234440"/>
            <a:ext cx="11018520" cy="4983480"/>
          </a:xfrm>
          <a:prstGeom prst="rect">
            <a:avLst/>
          </a:prstGeom>
          <a:noFill/>
          <a:ln/>
        </p:spPr>
        <p:txBody>
          <a:bodyPr wrap="square" lIns="0" tIns="0" rIns="0" bIns="0" rtlCol="0" anchor="t"/>
          <a:lstStyle/>
          <a:p>
            <a:pPr indent="0" marL="0">
              <a:buNone/>
            </a:pPr>
            <a:r>
              <a:rPr lang="en-US" sz="1400" b="1" dirty="0">
                <a:solidFill>
                  <a:srgbClr val="9A1F3D"/>
                </a:solidFill>
                <a:latin typeface="Calibri" pitchFamily="34" charset="0"/>
                <a:ea typeface="Calibri" pitchFamily="34" charset="-122"/>
                <a:cs typeface="Calibri" pitchFamily="34" charset="-120"/>
              </a:rPr>
              <a:t>Subject:  </a:t>
            </a:r>
            <a:pPr indent="0" marL="0">
              <a:buNone/>
            </a:pPr>
            <a:r>
              <a:rPr lang="en-US" sz="1400" b="1" dirty="0">
                <a:solidFill>
                  <a:srgbClr val="103060"/>
                </a:solidFill>
                <a:latin typeface="Calibri" pitchFamily="34" charset="0"/>
                <a:ea typeface="Calibri" pitchFamily="34" charset="-122"/>
                <a:cs typeface="Calibri" pitchFamily="34" charset="-120"/>
              </a:rPr>
              <a:t>A starting point for the new EON Reality website</a:t>
            </a:r>
            <a:pPr indent="0" marL="0">
              <a:buNone/>
            </a:pPr>
            <a:endParaRPr lang="en-US" sz="1400" dirty="0"/>
          </a:p>
          <a:p>
            <a:pPr indent="0" marL="0">
              <a:buNone/>
            </a:pPr>
            <a:endParaRPr lang="en-US" sz="1400" dirty="0"/>
          </a:p>
          <a:p>
            <a:pPr indent="0" marL="0">
              <a:buNone/>
            </a:pPr>
            <a:r>
              <a:rPr lang="en-US" sz="1400" dirty="0">
                <a:solidFill>
                  <a:srgbClr val="142033"/>
                </a:solidFill>
                <a:latin typeface="Calibri" pitchFamily="34" charset="0"/>
                <a:ea typeface="Calibri" pitchFamily="34" charset="-122"/>
                <a:cs typeface="Calibri" pitchFamily="34" charset="-120"/>
              </a:rPr>
              <a:t>Hello,</a:t>
            </a:r>
            <a:endParaRPr lang="en-US" sz="1400" dirty="0"/>
          </a:p>
          <a:p>
            <a:pPr indent="0" marL="0">
              <a:buNone/>
            </a:pPr>
            <a:endParaRPr lang="en-US" sz="1400" dirty="0"/>
          </a:p>
          <a:p>
            <a:pPr indent="0" marL="0">
              <a:buNone/>
            </a:pPr>
            <a:r>
              <a:rPr lang="en-US" sz="1400" dirty="0">
                <a:solidFill>
                  <a:srgbClr val="142033"/>
                </a:solidFill>
                <a:latin typeface="Calibri" pitchFamily="34" charset="0"/>
                <a:ea typeface="Calibri" pitchFamily="34" charset="-122"/>
                <a:cs typeface="Calibri" pitchFamily="34" charset="-120"/>
              </a:rPr>
              <a:t>I want us to look at the website from one picture before we change the live site.</a:t>
            </a:r>
            <a:endParaRPr lang="en-US" sz="1400" dirty="0"/>
          </a:p>
          <a:p>
            <a:pPr indent="0" marL="0">
              <a:buNone/>
            </a:pPr>
            <a:endParaRPr lang="en-US" sz="1400" dirty="0"/>
          </a:p>
          <a:p>
            <a:pPr indent="0" marL="0">
              <a:buNone/>
            </a:pPr>
            <a:r>
              <a:rPr lang="en-US" sz="1400" dirty="0">
                <a:solidFill>
                  <a:srgbClr val="142033"/>
                </a:solidFill>
                <a:latin typeface="Calibri" pitchFamily="34" charset="0"/>
                <a:ea typeface="Calibri" pitchFamily="34" charset="-122"/>
                <a:cs typeface="Calibri" pitchFamily="34" charset="-120"/>
              </a:rPr>
              <a:t>The short page is the menu: Learn, Train, Perform, Outcomes. One line for each product. A click opens that product’s story. It does not open an app, a temporary demo, or the campus home.</a:t>
            </a:r>
            <a:endParaRPr lang="en-US" sz="1400" dirty="0"/>
          </a:p>
          <a:p>
            <a:pPr indent="0" marL="0">
              <a:buNone/>
            </a:pPr>
            <a:endParaRPr lang="en-US" sz="1400" dirty="0"/>
          </a:p>
          <a:p>
            <a:pPr indent="0" marL="0">
              <a:buNone/>
            </a:pPr>
            <a:r>
              <a:rPr lang="en-US" sz="1400" dirty="0">
                <a:solidFill>
                  <a:srgbClr val="142033"/>
                </a:solidFill>
                <a:latin typeface="Calibri" pitchFamily="34" charset="0"/>
                <a:ea typeface="Calibri" pitchFamily="34" charset="-122"/>
                <a:cs typeface="Calibri" pitchFamily="34" charset="-120"/>
              </a:rPr>
              <a:t>Please open the suggestion: https://temporary-sonic-indigo-vj9wu0l.vercel.app</a:t>
            </a:r>
            <a:endParaRPr lang="en-US" sz="1400" dirty="0"/>
          </a:p>
          <a:p>
            <a:pPr indent="0" marL="0">
              <a:buNone/>
            </a:pPr>
            <a:endParaRPr lang="en-US" sz="1400" dirty="0"/>
          </a:p>
          <a:p>
            <a:pPr indent="0" marL="0">
              <a:buNone/>
            </a:pPr>
            <a:r>
              <a:rPr lang="en-US" sz="1400" dirty="0">
                <a:solidFill>
                  <a:srgbClr val="142033"/>
                </a:solidFill>
                <a:latin typeface="Calibri" pitchFamily="34" charset="0"/>
                <a:ea typeface="Calibri" pitchFamily="34" charset="-122"/>
                <a:cs typeface="Calibri" pitchFamily="34" charset="-120"/>
              </a:rPr>
              <a:t>This PowerPoint covers the structure, what I suggest we keep, what I suggest we remove, and where the nine new videos belong.</a:t>
            </a:r>
            <a:endParaRPr lang="en-US" sz="1400" dirty="0"/>
          </a:p>
          <a:p>
            <a:pPr indent="0" marL="0">
              <a:buNone/>
            </a:pPr>
            <a:endParaRPr lang="en-US" sz="1400" dirty="0"/>
          </a:p>
          <a:p>
            <a:pPr indent="0" marL="0">
              <a:buNone/>
            </a:pPr>
            <a:r>
              <a:rPr lang="en-US" sz="1400" dirty="0">
                <a:solidFill>
                  <a:srgbClr val="142033"/>
                </a:solidFill>
                <a:latin typeface="Calibri" pitchFamily="34" charset="0"/>
                <a:ea typeface="Calibri" pitchFamily="34" charset="-122"/>
                <a:cs typeface="Calibri" pitchFamily="34" charset="-120"/>
              </a:rPr>
              <a:t>This is a start. It is not the finished website. Cinematic names and customer names are a separate pass. On the campus, the EON XR models still need to become XR Infinite.</a:t>
            </a:r>
            <a:endParaRPr lang="en-US" sz="1400" dirty="0"/>
          </a:p>
          <a:p>
            <a:pPr indent="0" marL="0">
              <a:buNone/>
            </a:pPr>
            <a:endParaRPr lang="en-US" sz="1400" dirty="0"/>
          </a:p>
          <a:p>
            <a:pPr indent="0" marL="0">
              <a:buNone/>
            </a:pPr>
            <a:r>
              <a:rPr lang="en-US" sz="1400" dirty="0">
                <a:solidFill>
                  <a:srgbClr val="142033"/>
                </a:solidFill>
                <a:latin typeface="Calibri" pitchFamily="34" charset="0"/>
                <a:ea typeface="Calibri" pitchFamily="34" charset="-122"/>
                <a:cs typeface="Calibri" pitchFamily="34" charset="-120"/>
              </a:rPr>
              <a:t>If this direction is right, the next step is to add the four outcome stories to the long platform, then point those cards there as well.</a:t>
            </a:r>
            <a:endParaRPr lang="en-US" sz="1400" dirty="0"/>
          </a:p>
          <a:p>
            <a:pPr indent="0" marL="0">
              <a:buNone/>
            </a:pPr>
            <a:endParaRPr lang="en-US" sz="1400" dirty="0"/>
          </a:p>
          <a:p>
            <a:pPr indent="0" marL="0">
              <a:buNone/>
            </a:pPr>
            <a:r>
              <a:rPr lang="en-US" sz="1400" dirty="0">
                <a:solidFill>
                  <a:srgbClr val="142033"/>
                </a:solidFill>
                <a:latin typeface="Calibri" pitchFamily="34" charset="0"/>
                <a:ea typeface="Calibri" pitchFamily="34" charset="-122"/>
                <a:cs typeface="Calibri" pitchFamily="34" charset="-120"/>
              </a:rPr>
              <a:t>Dan</a:t>
            </a:r>
            <a:endParaRPr lang="en-US" sz="1400" dirty="0"/>
          </a:p>
        </p:txBody>
      </p:sp>
      <p:sp>
        <p:nvSpPr>
          <p:cNvPr id="8" name="Text 6"/>
          <p:cNvSpPr/>
          <p:nvPr/>
        </p:nvSpPr>
        <p:spPr>
          <a:xfrm>
            <a:off x="457200" y="6547104"/>
            <a:ext cx="9326880" cy="201168"/>
          </a:xfrm>
          <a:prstGeom prst="rect">
            <a:avLst/>
          </a:prstGeom>
          <a:noFill/>
          <a:ln/>
        </p:spPr>
        <p:txBody>
          <a:bodyPr wrap="square" lIns="0" tIns="0" rIns="0" bIns="0" rtlCol="0" anchor="ctr"/>
          <a:lstStyle/>
          <a:p>
            <a:pPr indent="0" marL="0">
              <a:buNone/>
            </a:pPr>
            <a:r>
              <a:rPr lang="en-US" sz="1100" dirty="0">
                <a:solidFill>
                  <a:srgbClr val="5C6B7A"/>
                </a:solidFill>
                <a:latin typeface="Calibri" pitchFamily="34" charset="0"/>
                <a:ea typeface="Calibri" pitchFamily="34" charset="-122"/>
                <a:cs typeface="Calibri" pitchFamily="34" charset="-120"/>
              </a:rPr>
              <a:t>EON Reality   ·   Website suggestion   ·   October 2026</a:t>
            </a:r>
            <a:endParaRPr lang="en-US" sz="1100" dirty="0"/>
          </a:p>
        </p:txBody>
      </p:sp>
      <p:sp>
        <p:nvSpPr>
          <p:cNvPr id="9" name="Text 7"/>
          <p:cNvSpPr/>
          <p:nvPr/>
        </p:nvSpPr>
        <p:spPr>
          <a:xfrm>
            <a:off x="10241280" y="6547104"/>
            <a:ext cx="1463040" cy="201168"/>
          </a:xfrm>
          <a:prstGeom prst="rect">
            <a:avLst/>
          </a:prstGeom>
          <a:noFill/>
          <a:ln/>
        </p:spPr>
        <p:txBody>
          <a:bodyPr wrap="square" lIns="0" tIns="0" rIns="0" bIns="0" rtlCol="0" anchor="ctr"/>
          <a:lstStyle/>
          <a:p>
            <a:pPr algn="r" indent="0" marL="0">
              <a:buNone/>
            </a:pPr>
            <a:r>
              <a:rPr lang="en-US" sz="1100" dirty="0">
                <a:solidFill>
                  <a:srgbClr val="5C6B7A"/>
                </a:solidFill>
                <a:latin typeface="Calibri" pitchFamily="34" charset="0"/>
                <a:ea typeface="Calibri" pitchFamily="34" charset="-122"/>
                <a:cs typeface="Calibri" pitchFamily="34" charset="-120"/>
              </a:rPr>
              <a:t>14  /  14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EON Reality website structure</dc:title>
  <dc:subject>Structure, what to keep, what to remove, and a starting suggestion</dc:subject>
  <dc:creator>EON Reality</dc:creator>
  <cp:lastModifiedBy>EON Reality</cp:lastModifiedBy>
  <cp:revision>1</cp:revision>
  <dcterms:created xsi:type="dcterms:W3CDTF">2026-10-05T04:01:23Z</dcterms:created>
  <dcterms:modified xsi:type="dcterms:W3CDTF">2026-10-05T04:01:23Z</dcterms:modified>
</cp:coreProperties>
</file>